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90" r:id="rId6"/>
    <p:sldId id="291" r:id="rId7"/>
    <p:sldId id="292" r:id="rId8"/>
    <p:sldId id="260" r:id="rId9"/>
    <p:sldId id="261" r:id="rId10"/>
    <p:sldId id="293" r:id="rId43"/>
    <p:sldId id="294" r:id="rId44"/>
    <p:sldId id="262" r:id="rId11"/>
    <p:sldId id="263" r:id="rId12"/>
    <p:sldId id="264" r:id="rId13"/>
    <p:sldId id="265" r:id="rId14"/>
    <p:sldId id="266" r:id="rId15"/>
    <p:sldId id="267" r:id="rId16"/>
    <p:sldId id="268" r:id="rId17"/>
    <p:sldId id="269"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9" r:id="rId31"/>
    <p:sldId id="287" r:id="rId32"/>
    <p:sldId id="288" r:id="rId33"/>
    <p:sldId id="270" r:id="rId34"/>
    <p:sldId id="271" r:id="rId35"/>
    <p:sldId id="272" r:id="rId36"/>
    <p:sldId id="273" r:id="rId37"/>
    <p:sldId id="274" r:id="rId38"/>
    <p:sldId id="295"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2" d="100"/>
          <a:sy n="82" d="100"/>
        </p:scale>
        <p:origin x="86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2.xml"/><Relationship Id="rId12" Type="http://schemas.openxmlformats.org/officeDocument/2006/relationships/slide" Target="slides/slide13.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1.xml"/><Relationship Id="rId21" Type="http://schemas.openxmlformats.org/officeDocument/2006/relationships/slide" Target="slides/slide22.xml"/><Relationship Id="rId22" Type="http://schemas.openxmlformats.org/officeDocument/2006/relationships/slide" Target="slides/slide23.xml"/><Relationship Id="rId23" Type="http://schemas.openxmlformats.org/officeDocument/2006/relationships/slide" Target="slides/slide24.xml"/><Relationship Id="rId24" Type="http://schemas.openxmlformats.org/officeDocument/2006/relationships/slide" Target="slides/slide25.xml"/><Relationship Id="rId25" Type="http://schemas.openxmlformats.org/officeDocument/2006/relationships/slide" Target="slides/slide26.xml"/><Relationship Id="rId26" Type="http://schemas.openxmlformats.org/officeDocument/2006/relationships/slide" Target="slides/slide27.xml"/><Relationship Id="rId27" Type="http://schemas.openxmlformats.org/officeDocument/2006/relationships/slide" Target="slides/slide28.xml"/><Relationship Id="rId28" Type="http://schemas.openxmlformats.org/officeDocument/2006/relationships/slide" Target="slides/slide29.xml"/><Relationship Id="rId29" Type="http://schemas.openxmlformats.org/officeDocument/2006/relationships/slide" Target="slides/slide30.xml"/><Relationship Id="rId30" Type="http://schemas.openxmlformats.org/officeDocument/2006/relationships/slide" Target="slides/slide31.xml"/><Relationship Id="rId31" Type="http://schemas.openxmlformats.org/officeDocument/2006/relationships/slide" Target="slides/slide32.xml"/><Relationship Id="rId32" Type="http://schemas.openxmlformats.org/officeDocument/2006/relationships/slide" Target="slides/slide33.xml"/><Relationship Id="rId33" Type="http://schemas.openxmlformats.org/officeDocument/2006/relationships/slide" Target="slides/slide34.xml"/><Relationship Id="rId34" Type="http://schemas.openxmlformats.org/officeDocument/2006/relationships/slide" Target="slides/slide35.xml"/><Relationship Id="rId35" Type="http://schemas.openxmlformats.org/officeDocument/2006/relationships/slide" Target="slides/slide36.xml"/><Relationship Id="rId36" Type="http://schemas.openxmlformats.org/officeDocument/2006/relationships/slide" Target="slides/slide37.xml"/><Relationship Id="rId37" Type="http://schemas.openxmlformats.org/officeDocument/2006/relationships/slide" Target="slides/slide38.xml"/><Relationship Id="rId38" Type="http://schemas.openxmlformats.org/officeDocument/2006/relationships/slide" Target="slides/slide39.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umni.fr/video/tectonique-des-plaques-et-tremblements-de-terr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220792"/>
            <a:ext cx="10911535" cy="353943"/>
          </a:xfrm>
          <a:prstGeom prst="rect">
            <a:avLst/>
          </a:prstGeom>
          <a:noFill/>
        </p:spPr>
        <p:txBody>
          <a:bodyPr wrap="square" anchor="ctr">
            <a:spAutoFit/>
          </a:bodyPr>
          <a:lstStyle/>
          <a:p>
            <a:r>
              <a:rPr sz="1700" b="1" dirty="0">
                <a:solidFill>
                  <a:srgbClr val="346B89"/>
                </a:solidFill>
                <a:latin typeface="Aptos"/>
              </a:rPr>
              <a:t>LUNDI 21 SEPTEMBRE 2026</a:t>
            </a:r>
          </a:p>
        </p:txBody>
      </p:sp>
      <p:sp>
        <p:nvSpPr>
          <p:cNvPr id="4" name="TextBox 3"/>
          <p:cNvSpPr txBox="1"/>
          <p:nvPr/>
        </p:nvSpPr>
        <p:spPr>
          <a:xfrm>
            <a:off x="640080" y="713232"/>
            <a:ext cx="10911535" cy="612648"/>
          </a:xfrm>
          <a:prstGeom prst="rect">
            <a:avLst/>
          </a:prstGeom>
          <a:noFill/>
        </p:spPr>
        <p:txBody>
          <a:bodyPr wrap="square" anchor="ctr">
            <a:spAutoFit/>
          </a:bodyPr>
          <a:lstStyle/>
          <a:p>
            <a:pPr algn="ctr"/>
            <a:r>
              <a:rPr sz="3000" b="1" dirty="0" err="1">
                <a:solidFill>
                  <a:srgbClr val="222F37"/>
                </a:solidFill>
                <a:latin typeface="Aptos"/>
              </a:rPr>
              <a:t>Rituel</a:t>
            </a:r>
            <a:r>
              <a:rPr sz="3000" b="1" dirty="0">
                <a:solidFill>
                  <a:srgbClr val="222F37"/>
                </a:solidFill>
                <a:latin typeface="Aptos"/>
              </a:rPr>
              <a:t> « </a:t>
            </a:r>
            <a:r>
              <a:rPr sz="3000" b="1" dirty="0" err="1">
                <a:solidFill>
                  <a:srgbClr val="222F37"/>
                </a:solidFill>
                <a:latin typeface="Aptos"/>
              </a:rPr>
              <a:t>Mystères</a:t>
            </a:r>
            <a:r>
              <a:rPr sz="3000" b="1" dirty="0">
                <a:solidFill>
                  <a:srgbClr val="222F37"/>
                </a:solidFill>
                <a:latin typeface="Aptos"/>
              </a:rPr>
              <a:t> du monde »</a:t>
            </a:r>
          </a:p>
        </p:txBody>
      </p:sp>
      <p:sp>
        <p:nvSpPr>
          <p:cNvPr id="5" name="TextBox 4"/>
          <p:cNvSpPr txBox="1"/>
          <p:nvPr/>
        </p:nvSpPr>
        <p:spPr>
          <a:xfrm>
            <a:off x="685800" y="1481328"/>
            <a:ext cx="6629400" cy="502920"/>
          </a:xfrm>
          <a:prstGeom prst="rect">
            <a:avLst/>
          </a:prstGeom>
          <a:noFill/>
        </p:spPr>
        <p:txBody>
          <a:bodyPr wrap="square" anchor="ctr">
            <a:spAutoFit/>
          </a:bodyPr>
          <a:lstStyle/>
          <a:p>
            <a:pPr algn="l"/>
            <a:r>
              <a:rPr sz="2400" b="1">
                <a:solidFill>
                  <a:srgbClr val="B53B37"/>
                </a:solidFill>
                <a:latin typeface="Aptos"/>
              </a:rPr>
              <a:t>1) Pose et calcule</a:t>
            </a:r>
          </a:p>
        </p:txBody>
      </p:sp>
      <p:sp>
        <p:nvSpPr>
          <p:cNvPr id="6" name="Rounded Rectangle 5"/>
          <p:cNvSpPr/>
          <p:nvPr/>
        </p:nvSpPr>
        <p:spPr>
          <a:xfrm>
            <a:off x="731520" y="2121408"/>
            <a:ext cx="6720840" cy="676656"/>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14400" y="2157984"/>
            <a:ext cx="6355080" cy="576072"/>
          </a:xfrm>
          <a:prstGeom prst="rect">
            <a:avLst/>
          </a:prstGeom>
          <a:noFill/>
        </p:spPr>
        <p:txBody>
          <a:bodyPr wrap="square" anchor="ctr">
            <a:spAutoFit/>
          </a:bodyPr>
          <a:lstStyle/>
          <a:p>
            <a:pPr algn="ctr"/>
            <a:r>
              <a:rPr sz="2700" b="1">
                <a:solidFill>
                  <a:srgbClr val="222F37"/>
                </a:solidFill>
                <a:latin typeface="Aptos"/>
              </a:rPr>
              <a:t>186 + 97 + 91 =</a:t>
            </a:r>
          </a:p>
        </p:txBody>
      </p:sp>
      <p:sp>
        <p:nvSpPr>
          <p:cNvPr id="8" name="Rounded Rectangle 7"/>
          <p:cNvSpPr/>
          <p:nvPr/>
        </p:nvSpPr>
        <p:spPr>
          <a:xfrm>
            <a:off x="731520" y="3017520"/>
            <a:ext cx="6720840" cy="676656"/>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054096"/>
            <a:ext cx="6355080" cy="576072"/>
          </a:xfrm>
          <a:prstGeom prst="rect">
            <a:avLst/>
          </a:prstGeom>
          <a:noFill/>
        </p:spPr>
        <p:txBody>
          <a:bodyPr wrap="square" anchor="ctr">
            <a:spAutoFit/>
          </a:bodyPr>
          <a:lstStyle/>
          <a:p>
            <a:pPr algn="ctr"/>
            <a:r>
              <a:rPr sz="2700" b="1">
                <a:solidFill>
                  <a:srgbClr val="222F37"/>
                </a:solidFill>
                <a:latin typeface="Aptos"/>
              </a:rPr>
              <a:t>8 462 − 8 394 =</a:t>
            </a:r>
          </a:p>
        </p:txBody>
      </p:sp>
      <p:sp>
        <p:nvSpPr>
          <p:cNvPr id="10" name="Rounded Rectangle 9"/>
          <p:cNvSpPr/>
          <p:nvPr/>
        </p:nvSpPr>
        <p:spPr>
          <a:xfrm>
            <a:off x="731520" y="3913631"/>
            <a:ext cx="6720840" cy="676656"/>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950208"/>
            <a:ext cx="6355080" cy="576072"/>
          </a:xfrm>
          <a:prstGeom prst="rect">
            <a:avLst/>
          </a:prstGeom>
          <a:noFill/>
        </p:spPr>
        <p:txBody>
          <a:bodyPr wrap="square" anchor="ctr">
            <a:spAutoFit/>
          </a:bodyPr>
          <a:lstStyle/>
          <a:p>
            <a:pPr algn="ctr"/>
            <a:r>
              <a:rPr sz="2700" b="1">
                <a:solidFill>
                  <a:srgbClr val="222F37"/>
                </a:solidFill>
                <a:latin typeface="Aptos"/>
              </a:rPr>
              <a:t>19 × 5 =</a:t>
            </a:r>
          </a:p>
        </p:txBody>
      </p:sp>
      <p:sp>
        <p:nvSpPr>
          <p:cNvPr id="12" name="TextBox 11"/>
          <p:cNvSpPr txBox="1"/>
          <p:nvPr/>
        </p:nvSpPr>
        <p:spPr>
          <a:xfrm>
            <a:off x="749808" y="5074920"/>
            <a:ext cx="6629400" cy="548640"/>
          </a:xfrm>
          <a:prstGeom prst="rect">
            <a:avLst/>
          </a:prstGeom>
          <a:noFill/>
        </p:spPr>
        <p:txBody>
          <a:bodyPr wrap="square" anchor="ctr">
            <a:spAutoFit/>
          </a:bodyPr>
          <a:lstStyle/>
          <a:p>
            <a:pPr algn="l"/>
            <a:r>
              <a:rPr sz="1600" b="1">
                <a:solidFill>
                  <a:srgbClr val="346B89"/>
                </a:solidFill>
                <a:latin typeface="Aptos"/>
              </a:rPr>
              <a:t>Pose les opérations dans le cahier du jour.</a:t>
            </a:r>
          </a:p>
        </p:txBody>
      </p:sp>
      <p:sp>
        <p:nvSpPr>
          <p:cNvPr id="13" name="Rounded Rectangle 12"/>
          <p:cNvSpPr/>
          <p:nvPr/>
        </p:nvSpPr>
        <p:spPr>
          <a:xfrm>
            <a:off x="7772400" y="1508760"/>
            <a:ext cx="3703320" cy="429768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01000" y="1700784"/>
            <a:ext cx="3246120" cy="420624"/>
          </a:xfrm>
          <a:prstGeom prst="rect">
            <a:avLst/>
          </a:prstGeom>
          <a:noFill/>
        </p:spPr>
        <p:txBody>
          <a:bodyPr wrap="square" anchor="ctr">
            <a:spAutoFit/>
          </a:bodyPr>
          <a:lstStyle/>
          <a:p>
            <a:r>
              <a:t>DÉFI BONUS · 4 ÉTAPES</a:t>
            </a:r>
          </a:p>
        </p:txBody>
      </p:sp>
      <p:sp>
        <p:nvSpPr>
          <p:cNvPr id="15" name="TextBox 14"/>
          <p:cNvSpPr txBox="1"/>
          <p:nvPr/>
        </p:nvSpPr>
        <p:spPr>
          <a:xfrm>
            <a:off x="8028431" y="2221992"/>
            <a:ext cx="3218688" cy="3246120"/>
          </a:xfrm>
          <a:prstGeom prst="rect">
            <a:avLst/>
          </a:prstGeom>
          <a:noFill/>
        </p:spPr>
        <p:txBody>
          <a:bodyPr wrap="square" anchor="ctr">
            <a:spAutoFit/>
          </a:bodyPr>
          <a:lstStyle/>
          <a:p>
            <a:r>
              <a:rPr sz="1600"/>
              <a:t>Un train japonais compte 3 voitures de 48 places chacune.</a:t>
            </a:r>
          </a:p>
          <a:p/>
          <a:p>
            <a:r>
              <a:rPr sz="1600"/>
              <a:t>Au départ, 27 places sont vides.</a:t>
            </a:r>
          </a:p>
          <a:p/>
          <a:p>
            <a:r>
              <a:rPr sz="1600"/>
              <a:t>À la première gare, 19 voyageurs descendent et 34 montent.</a:t>
            </a:r>
          </a:p>
          <a:p/>
          <a:p>
            <a:r>
              <a:rPr sz="1600"/>
              <a:t>Combien de voyageurs sont dans le train après cet arrêt ?</a:t>
            </a:r>
          </a:p>
        </p:txBody>
      </p:sp>
      <p:sp>
        <p:nvSpPr>
          <p:cNvPr id="16" name="Rounded Rectangle 15"/>
          <p:cNvSpPr/>
          <p:nvPr/>
        </p:nvSpPr>
        <p:spPr>
          <a:xfrm>
            <a:off x="7891272" y="5843016"/>
            <a:ext cx="3447288" cy="630936"/>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2F5B5F"/>
                </a:solidFill>
                <a:latin typeface="Aptos"/>
              </a:rPr>
              <a:t>PHOTO À INSÉRER
Mont Fuji · Japon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LUNDI 21 SEPTEMBRE 2026</a:t>
            </a:r>
          </a:p>
        </p:txBody>
      </p:sp>
      <p:sp>
        <p:nvSpPr>
          <p:cNvPr id="4" name="TextBox 3"/>
          <p:cNvSpPr txBox="1"/>
          <p:nvPr/>
        </p:nvSpPr>
        <p:spPr>
          <a:xfrm>
            <a:off x="548640" y="612648"/>
            <a:ext cx="11277295" cy="594360"/>
          </a:xfrm>
          <a:prstGeom prst="rect">
            <a:avLst/>
          </a:prstGeom>
          <a:noFill/>
        </p:spPr>
        <p:txBody>
          <a:bodyPr wrap="square" anchor="ctr">
            <a:spAutoFit/>
          </a:bodyPr>
          <a:lstStyle/>
          <a:p>
            <a:pPr algn="l"/>
            <a:r>
              <a:rPr sz="2800" b="1">
                <a:solidFill>
                  <a:srgbClr val="222F37"/>
                </a:solidFill>
                <a:latin typeface="Aptos"/>
              </a:rPr>
              <a:t>2) Corrige les calculs au tableau</a:t>
            </a:r>
          </a:p>
        </p:txBody>
      </p:sp>
      <p:sp>
        <p:nvSpPr>
          <p:cNvPr id="5" name="Rounded Rectangle 4"/>
          <p:cNvSpPr/>
          <p:nvPr/>
        </p:nvSpPr>
        <p:spPr>
          <a:xfrm>
            <a:off x="685800" y="1417320"/>
            <a:ext cx="3246120" cy="24231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499616"/>
            <a:ext cx="2816352" cy="2212848"/>
          </a:xfrm>
          <a:prstGeom prst="rect">
            <a:avLst/>
          </a:prstGeom>
          <a:noFill/>
        </p:spPr>
        <p:txBody>
          <a:bodyPr wrap="square" anchor="ctr">
            <a:spAutoFit/>
          </a:bodyPr>
          <a:lstStyle/>
          <a:p>
            <a:pPr algn="ctr"/>
            <a:r>
              <a:rPr sz="2500" b="1">
                <a:solidFill>
                  <a:srgbClr val="222F37"/>
                </a:solidFill>
                <a:latin typeface="Aptos"/>
              </a:rPr>
              <a:t>  186</a:t>
            </a:r>
          </a:p>
          <a:p>
            <a:pPr algn="ctr"/>
            <a:r>
              <a:rPr sz="2500" b="1">
                <a:solidFill>
                  <a:srgbClr val="222F37"/>
                </a:solidFill>
                <a:latin typeface="Aptos"/>
              </a:rPr>
              <a:t>   97</a:t>
            </a:r>
          </a:p>
          <a:p>
            <a:pPr algn="ctr"/>
            <a:r>
              <a:rPr sz="2500" b="1">
                <a:solidFill>
                  <a:srgbClr val="222F37"/>
                </a:solidFill>
                <a:latin typeface="Aptos"/>
              </a:rPr>
              <a:t>+  91</a:t>
            </a:r>
          </a:p>
          <a:p>
            <a:pPr algn="ctr"/>
            <a:r>
              <a:rPr sz="2500" b="1">
                <a:solidFill>
                  <a:srgbClr val="222F37"/>
                </a:solidFill>
                <a:latin typeface="Aptos"/>
              </a:rPr>
              <a:t>──────</a:t>
            </a:r>
          </a:p>
          <a:p>
            <a:pPr algn="ctr"/>
            <a:endParaRPr sz="2500" b="1">
              <a:solidFill>
                <a:srgbClr val="222F37"/>
              </a:solidFill>
              <a:latin typeface="Aptos"/>
            </a:endParaRPr>
          </a:p>
          <a:p>
            <a:pPr algn="ctr"/>
            <a:endParaRPr sz="2500" b="1">
              <a:solidFill>
                <a:srgbClr val="222F37"/>
              </a:solidFill>
              <a:latin typeface="Aptos"/>
            </a:endParaRPr>
          </a:p>
        </p:txBody>
      </p:sp>
      <p:sp>
        <p:nvSpPr>
          <p:cNvPr id="7" name="Rounded Rectangle 6"/>
          <p:cNvSpPr/>
          <p:nvPr/>
        </p:nvSpPr>
        <p:spPr>
          <a:xfrm>
            <a:off x="4343400" y="1417320"/>
            <a:ext cx="3246120" cy="24231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1499616"/>
            <a:ext cx="2816352" cy="2212848"/>
          </a:xfrm>
          <a:prstGeom prst="rect">
            <a:avLst/>
          </a:prstGeom>
          <a:noFill/>
        </p:spPr>
        <p:txBody>
          <a:bodyPr wrap="square" anchor="ctr">
            <a:spAutoFit/>
          </a:bodyPr>
          <a:lstStyle/>
          <a:p>
            <a:pPr algn="ctr"/>
            <a:r>
              <a:rPr sz="2500" b="1">
                <a:solidFill>
                  <a:srgbClr val="222F37"/>
                </a:solidFill>
                <a:latin typeface="Aptos"/>
              </a:rPr>
              <a:t> 8 462</a:t>
            </a:r>
          </a:p>
          <a:p>
            <a:pPr algn="ctr"/>
            <a:r>
              <a:rPr sz="2500" b="1">
                <a:solidFill>
                  <a:srgbClr val="222F37"/>
                </a:solidFill>
                <a:latin typeface="Aptos"/>
              </a:rPr>
              <a:t>−8 394</a:t>
            </a:r>
          </a:p>
          <a:p>
            <a:pPr algn="ctr"/>
            <a:r>
              <a:rPr sz="2500" b="1">
                <a:solidFill>
                  <a:srgbClr val="222F37"/>
                </a:solidFill>
                <a:latin typeface="Aptos"/>
              </a:rPr>
              <a:t>──────</a:t>
            </a:r>
          </a:p>
          <a:p>
            <a:pPr algn="ctr"/>
            <a:endParaRPr sz="2500" b="1">
              <a:solidFill>
                <a:srgbClr val="222F37"/>
              </a:solidFill>
              <a:latin typeface="Aptos"/>
            </a:endParaRPr>
          </a:p>
          <a:p>
            <a:pPr algn="ctr"/>
            <a:endParaRPr sz="2500" b="1">
              <a:solidFill>
                <a:srgbClr val="222F37"/>
              </a:solidFill>
              <a:latin typeface="Aptos"/>
            </a:endParaRPr>
          </a:p>
        </p:txBody>
      </p:sp>
      <p:sp>
        <p:nvSpPr>
          <p:cNvPr id="9" name="Rounded Rectangle 8"/>
          <p:cNvSpPr/>
          <p:nvPr/>
        </p:nvSpPr>
        <p:spPr>
          <a:xfrm>
            <a:off x="8001000" y="1417320"/>
            <a:ext cx="3246120" cy="24231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1499616"/>
            <a:ext cx="2816352" cy="2212848"/>
          </a:xfrm>
          <a:prstGeom prst="rect">
            <a:avLst/>
          </a:prstGeom>
          <a:noFill/>
        </p:spPr>
        <p:txBody>
          <a:bodyPr wrap="square" anchor="ctr">
            <a:spAutoFit/>
          </a:bodyPr>
          <a:lstStyle/>
          <a:p>
            <a:pPr algn="ctr"/>
            <a:r>
              <a:rPr sz="2500" b="1">
                <a:solidFill>
                  <a:srgbClr val="222F37"/>
                </a:solidFill>
                <a:latin typeface="Aptos"/>
              </a:rPr>
              <a:t>   19</a:t>
            </a:r>
          </a:p>
          <a:p>
            <a:pPr algn="ctr"/>
            <a:r>
              <a:rPr sz="2500" b="1">
                <a:solidFill>
                  <a:srgbClr val="222F37"/>
                </a:solidFill>
                <a:latin typeface="Aptos"/>
              </a:rPr>
              <a:t>×   5</a:t>
            </a:r>
          </a:p>
          <a:p>
            <a:pPr algn="ctr"/>
            <a:r>
              <a:rPr sz="2500" b="1">
                <a:solidFill>
                  <a:srgbClr val="222F37"/>
                </a:solidFill>
                <a:latin typeface="Aptos"/>
              </a:rPr>
              <a:t>──────</a:t>
            </a:r>
          </a:p>
          <a:p>
            <a:pPr algn="ctr"/>
            <a:endParaRPr sz="2500" b="1">
              <a:solidFill>
                <a:srgbClr val="222F37"/>
              </a:solidFill>
              <a:latin typeface="Aptos"/>
            </a:endParaRPr>
          </a:p>
          <a:p>
            <a:pPr algn="ctr"/>
            <a:endParaRPr sz="2500" b="1">
              <a:solidFill>
                <a:srgbClr val="222F37"/>
              </a:solidFill>
              <a:latin typeface="Aptos"/>
            </a:endParaRPr>
          </a:p>
        </p:txBody>
      </p:sp>
      <p:sp>
        <p:nvSpPr>
          <p:cNvPr id="11" name="TextBox 10"/>
          <p:cNvSpPr txBox="1"/>
          <p:nvPr/>
        </p:nvSpPr>
        <p:spPr>
          <a:xfrm>
            <a:off x="731520" y="4087368"/>
            <a:ext cx="10820095" cy="457200"/>
          </a:xfrm>
          <a:prstGeom prst="rect">
            <a:avLst/>
          </a:prstGeom>
          <a:noFill/>
        </p:spPr>
        <p:txBody>
          <a:bodyPr wrap="square" anchor="ctr">
            <a:spAutoFit/>
          </a:bodyPr>
          <a:lstStyle/>
          <a:p>
            <a:pPr algn="l"/>
            <a:r>
              <a:rPr sz="1900" b="1">
                <a:solidFill>
                  <a:srgbClr val="346B89"/>
                </a:solidFill>
                <a:latin typeface="Aptos"/>
              </a:rPr>
              <a:t>3) Code : écris les trois résultats à la suite, sans espace.</a:t>
            </a:r>
          </a:p>
        </p:txBody>
      </p:sp>
      <p:sp>
        <p:nvSpPr>
          <p:cNvPr id="12" name="TextBox 11"/>
          <p:cNvSpPr txBox="1"/>
          <p:nvPr/>
        </p:nvSpPr>
        <p:spPr>
          <a:xfrm>
            <a:off x="731520" y="4590288"/>
            <a:ext cx="10728655" cy="502920"/>
          </a:xfrm>
          <a:prstGeom prst="rect">
            <a:avLst/>
          </a:prstGeom>
          <a:noFill/>
        </p:spPr>
        <p:txBody>
          <a:bodyPr wrap="square" anchor="ctr">
            <a:spAutoFit/>
          </a:bodyPr>
          <a:lstStyle/>
          <a:p>
            <a:pPr algn="ctr"/>
            <a:r>
              <a:rPr sz="2900" b="1">
                <a:solidFill>
                  <a:srgbClr val="222F37"/>
                </a:solidFill>
                <a:latin typeface="Aptos"/>
              </a:rPr>
              <a:t>_   _   _   _   _   _   _</a:t>
            </a:r>
          </a:p>
        </p:txBody>
      </p:sp>
      <p:sp>
        <p:nvSpPr>
          <p:cNvPr id="13" name="TextBox 12"/>
          <p:cNvSpPr txBox="1"/>
          <p:nvPr/>
        </p:nvSpPr>
        <p:spPr>
          <a:xfrm>
            <a:off x="777240" y="5522976"/>
            <a:ext cx="10820095" cy="685800"/>
          </a:xfrm>
          <a:prstGeom prst="rect">
            <a:avLst/>
          </a:prstGeom>
          <a:noFill/>
        </p:spPr>
        <p:txBody>
          <a:bodyPr wrap="square" anchor="ctr">
            <a:spAutoFit/>
          </a:bodyPr>
          <a:lstStyle/>
          <a:p>
            <a:r>
              <a:t>Clé :  1 = M   2 = R   3 = L   4 = J   5 = N   6 = A   7 = E   8 = P   9 = 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LUNDI 21 SEPTEMBRE 2026</a:t>
            </a:r>
          </a:p>
        </p:txBody>
      </p:sp>
      <p:sp>
        <p:nvSpPr>
          <p:cNvPr id="4" name="TextBox 3"/>
          <p:cNvSpPr txBox="1"/>
          <p:nvPr/>
        </p:nvSpPr>
        <p:spPr>
          <a:xfrm>
            <a:off x="640080" y="658368"/>
            <a:ext cx="11002975" cy="594360"/>
          </a:xfrm>
          <a:prstGeom prst="rect">
            <a:avLst/>
          </a:prstGeom>
          <a:noFill/>
        </p:spPr>
        <p:txBody>
          <a:bodyPr wrap="square" anchor="ctr">
            <a:spAutoFit/>
          </a:bodyPr>
          <a:lstStyle/>
          <a:p>
            <a:pPr algn="l"/>
            <a:r>
              <a:rPr sz="2900" b="1">
                <a:solidFill>
                  <a:srgbClr val="222F37"/>
                </a:solidFill>
                <a:latin typeface="Aptos"/>
              </a:rPr>
              <a:t>3) Destination de la semaine</a:t>
            </a:r>
          </a:p>
        </p:txBody>
      </p:sp>
      <p:sp>
        <p:nvSpPr>
          <p:cNvPr id="5" name="TextBox 4"/>
          <p:cNvSpPr txBox="1"/>
          <p:nvPr/>
        </p:nvSpPr>
        <p:spPr>
          <a:xfrm>
            <a:off x="731520" y="1600200"/>
            <a:ext cx="10728655" cy="640080"/>
          </a:xfrm>
          <a:prstGeom prst="rect">
            <a:avLst/>
          </a:prstGeom>
          <a:noFill/>
        </p:spPr>
        <p:txBody>
          <a:bodyPr wrap="square" anchor="ctr">
            <a:spAutoFit/>
          </a:bodyPr>
          <a:lstStyle/>
          <a:p>
            <a:pPr algn="ctr"/>
            <a:r>
              <a:rPr sz="2800" b="1">
                <a:solidFill>
                  <a:srgbClr val="346B89"/>
                </a:solidFill>
                <a:latin typeface="Aptos"/>
              </a:rPr>
              <a:t>374  ·  68  ·  95   →   3746895</a:t>
            </a:r>
          </a:p>
        </p:txBody>
      </p:sp>
      <p:sp>
        <p:nvSpPr>
          <p:cNvPr id="6" name="TextBox 5"/>
          <p:cNvSpPr txBox="1"/>
          <p:nvPr/>
        </p:nvSpPr>
        <p:spPr>
          <a:xfrm>
            <a:off x="914400" y="2514600"/>
            <a:ext cx="10362895" cy="594360"/>
          </a:xfrm>
          <a:prstGeom prst="rect">
            <a:avLst/>
          </a:prstGeom>
          <a:noFill/>
        </p:spPr>
        <p:txBody>
          <a:bodyPr wrap="square" anchor="ctr">
            <a:spAutoFit/>
          </a:bodyPr>
          <a:lstStyle/>
          <a:p>
            <a:pPr algn="ctr"/>
            <a:r>
              <a:rPr sz="3000" b="1">
                <a:solidFill>
                  <a:srgbClr val="222F37"/>
                </a:solidFill>
                <a:latin typeface="Aptos"/>
              </a:rPr>
              <a:t>3  7  4  6  8  9  5</a:t>
            </a:r>
          </a:p>
        </p:txBody>
      </p:sp>
      <p:sp>
        <p:nvSpPr>
          <p:cNvPr id="7" name="TextBox 6"/>
          <p:cNvSpPr txBox="1"/>
          <p:nvPr/>
        </p:nvSpPr>
        <p:spPr>
          <a:xfrm>
            <a:off x="914400" y="3236976"/>
            <a:ext cx="10362895" cy="594360"/>
          </a:xfrm>
          <a:prstGeom prst="rect">
            <a:avLst/>
          </a:prstGeom>
          <a:noFill/>
        </p:spPr>
        <p:txBody>
          <a:bodyPr wrap="square" anchor="ctr">
            <a:spAutoFit/>
          </a:bodyPr>
          <a:lstStyle/>
          <a:p>
            <a:pPr algn="ctr"/>
            <a:r>
              <a:rPr sz="3100" b="1">
                <a:solidFill>
                  <a:srgbClr val="B53B37"/>
                </a:solidFill>
                <a:latin typeface="Aptos"/>
              </a:rPr>
              <a:t>L  E  J  A  P  O  N</a:t>
            </a:r>
          </a:p>
        </p:txBody>
      </p:sp>
      <p:sp>
        <p:nvSpPr>
          <p:cNvPr id="8" name="TextBox 7"/>
          <p:cNvSpPr txBox="1"/>
          <p:nvPr/>
        </p:nvSpPr>
        <p:spPr>
          <a:xfrm>
            <a:off x="914400" y="4178808"/>
            <a:ext cx="10362895" cy="731520"/>
          </a:xfrm>
          <a:prstGeom prst="rect">
            <a:avLst/>
          </a:prstGeom>
          <a:noFill/>
        </p:spPr>
        <p:txBody>
          <a:bodyPr wrap="square" anchor="ctr">
            <a:spAutoFit/>
          </a:bodyPr>
          <a:lstStyle/>
          <a:p>
            <a:pPr algn="ctr"/>
            <a:r>
              <a:rPr sz="3900" b="1">
                <a:solidFill>
                  <a:srgbClr val="222F37"/>
                </a:solidFill>
                <a:latin typeface="Aptos"/>
              </a:rPr>
              <a:t>LE JAPON</a:t>
            </a:r>
          </a:p>
        </p:txBody>
      </p:sp>
      <p:sp>
        <p:nvSpPr>
          <p:cNvPr id="9" name="Oval 8"/>
          <p:cNvSpPr/>
          <p:nvPr/>
        </p:nvSpPr>
        <p:spPr>
          <a:xfrm>
            <a:off x="5349240" y="5120640"/>
            <a:ext cx="1508760" cy="1508760"/>
          </a:xfrm>
          <a:prstGeom prst="ellipse">
            <a:avLst/>
          </a:prstGeom>
          <a:solidFill>
            <a:srgbClr val="B53B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253728" y="4937760"/>
            <a:ext cx="2286000" cy="126187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Mont Fuji et Tokyo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64592"/>
            <a:ext cx="10881360" cy="338328"/>
          </a:xfrm>
          <a:prstGeom prst="rect">
            <a:avLst/>
          </a:prstGeom>
          <a:noFill/>
        </p:spPr>
        <p:txBody>
          <a:bodyPr wrap="square" lIns="54864" rIns="54864" anchor="ctr">
            <a:spAutoFit/>
          </a:bodyPr>
          <a:lstStyle/>
          <a:p>
            <a:pPr>
              <a:spcAft>
                <a:spcPts val="800"/>
              </a:spcAft>
            </a:pPr>
            <a:r>
              <a:rPr sz="1400" b="1">
                <a:solidFill>
                  <a:srgbClr val="346B89"/>
                </a:solidFill>
                <a:latin typeface="Aptos"/>
              </a:rPr>
              <a:t>LUNDI 21 SEPTEMBRE 2026</a:t>
            </a:r>
          </a:p>
        </p:txBody>
      </p:sp>
      <p:sp>
        <p:nvSpPr>
          <p:cNvPr id="4" name="TextBox 3"/>
          <p:cNvSpPr txBox="1"/>
          <p:nvPr/>
        </p:nvSpPr>
        <p:spPr>
          <a:xfrm>
            <a:off x="640080" y="594360"/>
            <a:ext cx="10881360" cy="621792"/>
          </a:xfrm>
          <a:prstGeom prst="rect">
            <a:avLst/>
          </a:prstGeom>
          <a:noFill/>
        </p:spPr>
        <p:txBody>
          <a:bodyPr wrap="square" lIns="54864" rIns="54864" anchor="ctr">
            <a:spAutoFit/>
          </a:bodyPr>
          <a:lstStyle/>
          <a:p>
            <a:pPr>
              <a:spcAft>
                <a:spcPts val="800"/>
              </a:spcAft>
            </a:pPr>
            <a:r>
              <a:rPr sz="2900" b="1">
                <a:solidFill>
                  <a:srgbClr val="222F37"/>
                </a:solidFill>
                <a:latin typeface="Aptos"/>
              </a:rPr>
              <a:t>Découvrons le Japon · Où est-il ?</a:t>
            </a:r>
          </a:p>
        </p:txBody>
      </p:sp>
      <p:sp>
        <p:nvSpPr>
          <p:cNvPr id="5" name="Rounded Rectangle 4"/>
          <p:cNvSpPr/>
          <p:nvPr/>
        </p:nvSpPr>
        <p:spPr>
          <a:xfrm>
            <a:off x="658368" y="1389888"/>
            <a:ext cx="694944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600200"/>
            <a:ext cx="6519672" cy="4526280"/>
          </a:xfrm>
          <a:prstGeom prst="rect">
            <a:avLst/>
          </a:prstGeom>
          <a:noFill/>
        </p:spPr>
        <p:txBody>
          <a:bodyPr wrap="square" lIns="54864" rIns="54864" anchor="ctr">
            <a:spAutoFit/>
          </a:bodyPr>
          <a:lstStyle/>
          <a:p>
            <a:pPr>
              <a:spcAft>
                <a:spcPts val="800"/>
              </a:spcAft>
            </a:pPr>
            <a:r>
              <a:rPr sz="2000" b="0">
                <a:solidFill>
                  <a:srgbClr val="222F37"/>
                </a:solidFill>
                <a:latin typeface="Aptos"/>
              </a:rPr>
              <a:t>Le Japon est un pays d’Asie de l’Est, dans l’océan Pacifique. C’est un archipel : il est formé de milliers d’îles. Ses quatre îles principales sont Hokkaidō, Honshū, Shikoku et Kyūshū. Sa capitale est Tokyo.</a:t>
            </a:r>
          </a:p>
          <a:p>
            <a:pPr>
              <a:spcAft>
                <a:spcPts val="800"/>
              </a:spcAft>
            </a:pPr>
            <a:endParaRPr sz="2000" b="0">
              <a:solidFill>
                <a:srgbClr val="222F37"/>
              </a:solidFill>
              <a:latin typeface="Aptos"/>
            </a:endParaRPr>
          </a:p>
          <a:p>
            <a:pPr>
              <a:spcAft>
                <a:spcPts val="800"/>
              </a:spcAft>
            </a:pPr>
            <a:r>
              <a:rPr sz="2000" b="0">
                <a:solidFill>
                  <a:srgbClr val="222F37"/>
                </a:solidFill>
                <a:latin typeface="Aptos"/>
              </a:rPr>
              <a:t>Sur une carte, repère les pays proches du Japon : la Russie, la Corée du Nord, la Corée du Sud et la Chine. Taïwan se trouve aussi au sud-ouest de l’archipel. Le Japon n’a aucune frontière terrestre avec ces territoires : la mer les sépare.</a:t>
            </a:r>
          </a:p>
          <a:p>
            <a:pPr>
              <a:spcAft>
                <a:spcPts val="800"/>
              </a:spcAft>
            </a:pPr>
            <a:endParaRPr sz="2000" b="0">
              <a:solidFill>
                <a:srgbClr val="222F37"/>
              </a:solidFill>
              <a:latin typeface="Aptos"/>
            </a:endParaRPr>
          </a:p>
          <a:p>
            <a:pPr>
              <a:spcAft>
                <a:spcPts val="800"/>
              </a:spcAft>
            </a:pPr>
            <a:r>
              <a:rPr sz="2000" b="0">
                <a:solidFill>
                  <a:srgbClr val="222F37"/>
                </a:solidFill>
                <a:latin typeface="Aptos"/>
              </a:rPr>
              <a:t>Le mont Fuji est un volcan célèbre, devenu un symbole du pays.</a:t>
            </a:r>
          </a:p>
        </p:txBody>
      </p:sp>
      <p:sp>
        <p:nvSpPr>
          <p:cNvPr id="7" name="Rounded Rectangle 6"/>
          <p:cNvSpPr/>
          <p:nvPr/>
        </p:nvSpPr>
        <p:spPr>
          <a:xfrm>
            <a:off x="7845552" y="1389888"/>
            <a:ext cx="3703320" cy="42519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938528"/>
            <a:ext cx="3108960" cy="548640"/>
          </a:xfrm>
          <a:prstGeom prst="rect">
            <a:avLst/>
          </a:prstGeom>
          <a:noFill/>
        </p:spPr>
        <p:txBody>
          <a:bodyPr wrap="square" lIns="54864" rIns="54864" anchor="ctr">
            <a:spAutoFit/>
          </a:bodyPr>
          <a:lstStyle/>
          <a:p>
            <a:pPr>
              <a:spcAft>
                <a:spcPts val="800"/>
              </a:spcAft>
            </a:pPr>
            <a:r>
              <a:rPr sz="1800" b="1">
                <a:solidFill>
                  <a:srgbClr val="B53B37"/>
                </a:solidFill>
                <a:latin typeface="Aptos"/>
              </a:rPr>
              <a:t>PHOTO À INSÉRER</a:t>
            </a:r>
          </a:p>
        </p:txBody>
      </p:sp>
      <p:sp>
        <p:nvSpPr>
          <p:cNvPr id="9" name="TextBox 8"/>
          <p:cNvSpPr txBox="1"/>
          <p:nvPr/>
        </p:nvSpPr>
        <p:spPr>
          <a:xfrm>
            <a:off x="8138160" y="2596896"/>
            <a:ext cx="3063240" cy="2148840"/>
          </a:xfrm>
          <a:prstGeom prst="rect">
            <a:avLst/>
          </a:prstGeom>
          <a:noFill/>
        </p:spPr>
        <p:txBody>
          <a:bodyPr wrap="square" lIns="54864" rIns="54864" anchor="ctr">
            <a:spAutoFit/>
          </a:bodyPr>
          <a:lstStyle/>
          <a:p>
            <a:pPr>
              <a:spcAft>
                <a:spcPts val="800"/>
              </a:spcAft>
            </a:pPr>
            <a:r>
              <a:rPr sz="1900" b="0">
                <a:solidFill>
                  <a:srgbClr val="222F37"/>
                </a:solidFill>
                <a:latin typeface="Aptos"/>
              </a:rPr>
              <a:t>Carte réelle du Japon et de ses voisins, ou photographie du mont Fuji.</a:t>
            </a:r>
          </a:p>
        </p:txBody>
      </p:sp>
      <p:sp>
        <p:nvSpPr>
          <p:cNvPr id="10" name="TextBox 9"/>
          <p:cNvSpPr txBox="1"/>
          <p:nvPr/>
        </p:nvSpPr>
        <p:spPr>
          <a:xfrm>
            <a:off x="7882127" y="5806440"/>
            <a:ext cx="3566160" cy="411480"/>
          </a:xfrm>
          <a:prstGeom prst="rect">
            <a:avLst/>
          </a:prstGeom>
          <a:noFill/>
        </p:spPr>
        <p:txBody>
          <a:bodyPr wrap="square" lIns="54864" rIns="54864" anchor="ctr">
            <a:spAutoFit/>
          </a:bodyPr>
          <a:lstStyle/>
          <a:p>
            <a:pPr>
              <a:spcAft>
                <a:spcPts val="800"/>
              </a:spcAft>
            </a:pPr>
            <a:r>
              <a:rPr sz="1300" b="1">
                <a:solidFill>
                  <a:srgbClr val="346B89"/>
                </a:solidFill>
                <a:latin typeface="Aptos"/>
              </a:rPr>
              <a:t>CARTE / PAYSAGE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64592"/>
            <a:ext cx="10881360" cy="338328"/>
          </a:xfrm>
          <a:prstGeom prst="rect">
            <a:avLst/>
          </a:prstGeom>
          <a:noFill/>
        </p:spPr>
        <p:txBody>
          <a:bodyPr wrap="square" lIns="54864" rIns="54864" anchor="ctr">
            <a:spAutoFit/>
          </a:bodyPr>
          <a:lstStyle/>
          <a:p>
            <a:pPr>
              <a:spcAft>
                <a:spcPts val="800"/>
              </a:spcAft>
            </a:pPr>
            <a:r>
              <a:rPr sz="1400" b="1">
                <a:solidFill>
                  <a:srgbClr val="346B89"/>
                </a:solidFill>
                <a:latin typeface="Aptos"/>
              </a:rPr>
              <a:t>LUNDI 21 SEPTEMBRE 2026</a:t>
            </a:r>
          </a:p>
        </p:txBody>
      </p:sp>
      <p:sp>
        <p:nvSpPr>
          <p:cNvPr id="4" name="TextBox 3"/>
          <p:cNvSpPr txBox="1"/>
          <p:nvPr/>
        </p:nvSpPr>
        <p:spPr>
          <a:xfrm>
            <a:off x="640080" y="594360"/>
            <a:ext cx="10881360" cy="621792"/>
          </a:xfrm>
          <a:prstGeom prst="rect">
            <a:avLst/>
          </a:prstGeom>
          <a:noFill/>
        </p:spPr>
        <p:txBody>
          <a:bodyPr wrap="square" lIns="54864" rIns="54864" anchor="ctr">
            <a:spAutoFit/>
          </a:bodyPr>
          <a:lstStyle/>
          <a:p>
            <a:pPr>
              <a:spcAft>
                <a:spcPts val="800"/>
              </a:spcAft>
            </a:pPr>
            <a:r>
              <a:rPr sz="2900" b="1">
                <a:solidFill>
                  <a:srgbClr val="222F37"/>
                </a:solidFill>
                <a:latin typeface="Aptos"/>
              </a:rPr>
              <a:t>Découvrons le Japon · Des mots à apprendre</a:t>
            </a:r>
          </a:p>
        </p:txBody>
      </p:sp>
      <p:sp>
        <p:nvSpPr>
          <p:cNvPr id="5" name="Rounded Rectangle 4"/>
          <p:cNvSpPr/>
          <p:nvPr/>
        </p:nvSpPr>
        <p:spPr>
          <a:xfrm>
            <a:off x="658368" y="1389888"/>
            <a:ext cx="694944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600200"/>
            <a:ext cx="6519672" cy="4526280"/>
          </a:xfrm>
          <a:prstGeom prst="rect">
            <a:avLst/>
          </a:prstGeom>
          <a:noFill/>
        </p:spPr>
        <p:txBody>
          <a:bodyPr wrap="square" lIns="54864" rIns="54864" anchor="ctr">
            <a:spAutoFit/>
          </a:bodyPr>
          <a:lstStyle/>
          <a:p>
            <a:pPr>
              <a:spcAft>
                <a:spcPts val="800"/>
              </a:spcAft>
            </a:pPr>
            <a:r>
              <a:rPr sz="2000" b="0">
                <a:solidFill>
                  <a:srgbClr val="222F37"/>
                </a:solidFill>
                <a:latin typeface="Aptos"/>
              </a:rPr>
              <a:t>Au Japon, on parle principalement japonais. Cette langue utilise trois systèmes d’écriture : les hiragana, les katakana et les kanji.</a:t>
            </a:r>
          </a:p>
          <a:p>
            <a:pPr>
              <a:spcAft>
                <a:spcPts val="800"/>
              </a:spcAft>
            </a:pPr>
            <a:endParaRPr sz="2000" b="0">
              <a:solidFill>
                <a:srgbClr val="222F37"/>
              </a:solidFill>
              <a:latin typeface="Aptos"/>
            </a:endParaRPr>
          </a:p>
          <a:p>
            <a:pPr>
              <a:spcAft>
                <a:spcPts val="800"/>
              </a:spcAft>
            </a:pPr>
            <a:r>
              <a:rPr sz="2000" b="0">
                <a:solidFill>
                  <a:srgbClr val="222F37"/>
                </a:solidFill>
                <a:latin typeface="Aptos"/>
              </a:rPr>
              <a:t>Quelques mots à retenir :</a:t>
            </a:r>
          </a:p>
          <a:p>
            <a:pPr>
              <a:spcAft>
                <a:spcPts val="800"/>
              </a:spcAft>
            </a:pPr>
            <a:r>
              <a:rPr sz="2000" b="0">
                <a:solidFill>
                  <a:srgbClr val="222F37"/>
                </a:solidFill>
                <a:latin typeface="Aptos"/>
              </a:rPr>
              <a:t>• Konnichiwa (こんにちは) : bonjour, dans la journée.</a:t>
            </a:r>
          </a:p>
          <a:p>
            <a:pPr>
              <a:spcAft>
                <a:spcPts val="800"/>
              </a:spcAft>
            </a:pPr>
            <a:r>
              <a:rPr sz="2000" b="0">
                <a:solidFill>
                  <a:srgbClr val="222F37"/>
                </a:solidFill>
                <a:latin typeface="Aptos"/>
              </a:rPr>
              <a:t>• Arigatō (ありがとう) : merci.</a:t>
            </a:r>
          </a:p>
          <a:p>
            <a:pPr>
              <a:spcAft>
                <a:spcPts val="800"/>
              </a:spcAft>
            </a:pPr>
            <a:r>
              <a:rPr sz="2000" b="0">
                <a:solidFill>
                  <a:srgbClr val="222F37"/>
                </a:solidFill>
                <a:latin typeface="Aptos"/>
              </a:rPr>
              <a:t>• Sensei (先生) : maître, maîtresse ou professeur ; c’est une manière respectueuse de s’adresser à une personne qui enseigne.</a:t>
            </a:r>
          </a:p>
          <a:p>
            <a:pPr>
              <a:spcAft>
                <a:spcPts val="800"/>
              </a:spcAft>
            </a:pPr>
            <a:endParaRPr sz="2000" b="0">
              <a:solidFill>
                <a:srgbClr val="222F37"/>
              </a:solidFill>
              <a:latin typeface="Aptos"/>
            </a:endParaRPr>
          </a:p>
          <a:p>
            <a:pPr>
              <a:spcAft>
                <a:spcPts val="800"/>
              </a:spcAft>
            </a:pPr>
            <a:r>
              <a:rPr sz="2000" b="0">
                <a:solidFill>
                  <a:srgbClr val="222F37"/>
                </a:solidFill>
                <a:latin typeface="Aptos"/>
              </a:rPr>
              <a:t>Au Japon, on retire généralement ses chaussures avant d’entrer dans une maison. Les coutumes peuvent varier selon les lieux et les familles.</a:t>
            </a:r>
          </a:p>
        </p:txBody>
      </p:sp>
      <p:sp>
        <p:nvSpPr>
          <p:cNvPr id="7" name="Rounded Rectangle 6"/>
          <p:cNvSpPr/>
          <p:nvPr/>
        </p:nvSpPr>
        <p:spPr>
          <a:xfrm>
            <a:off x="7845552" y="1389888"/>
            <a:ext cx="3703320" cy="42519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938528"/>
            <a:ext cx="3108960" cy="548640"/>
          </a:xfrm>
          <a:prstGeom prst="rect">
            <a:avLst/>
          </a:prstGeom>
          <a:noFill/>
        </p:spPr>
        <p:txBody>
          <a:bodyPr wrap="square" lIns="54864" rIns="54864" anchor="ctr">
            <a:spAutoFit/>
          </a:bodyPr>
          <a:lstStyle/>
          <a:p>
            <a:pPr>
              <a:spcAft>
                <a:spcPts val="800"/>
              </a:spcAft>
            </a:pPr>
            <a:r>
              <a:rPr sz="1800" b="1">
                <a:solidFill>
                  <a:srgbClr val="B53B37"/>
                </a:solidFill>
                <a:latin typeface="Aptos"/>
              </a:rPr>
              <a:t>PHOTO À INSÉRER</a:t>
            </a:r>
          </a:p>
        </p:txBody>
      </p:sp>
      <p:sp>
        <p:nvSpPr>
          <p:cNvPr id="9" name="TextBox 8"/>
          <p:cNvSpPr txBox="1"/>
          <p:nvPr/>
        </p:nvSpPr>
        <p:spPr>
          <a:xfrm>
            <a:off x="8138160" y="2596896"/>
            <a:ext cx="3063240" cy="2148840"/>
          </a:xfrm>
          <a:prstGeom prst="rect">
            <a:avLst/>
          </a:prstGeom>
          <a:noFill/>
        </p:spPr>
        <p:txBody>
          <a:bodyPr wrap="square" lIns="54864" rIns="54864" anchor="ctr">
            <a:spAutoFit/>
          </a:bodyPr>
          <a:lstStyle/>
          <a:p>
            <a:pPr>
              <a:spcAft>
                <a:spcPts val="800"/>
              </a:spcAft>
            </a:pPr>
            <a:r>
              <a:rPr sz="1900" b="0">
                <a:solidFill>
                  <a:srgbClr val="222F37"/>
                </a:solidFill>
                <a:latin typeface="Aptos"/>
              </a:rPr>
              <a:t>Photographie d’une rue japonaise avec enseignes en japonais.</a:t>
            </a:r>
          </a:p>
        </p:txBody>
      </p:sp>
      <p:sp>
        <p:nvSpPr>
          <p:cNvPr id="10" name="TextBox 9"/>
          <p:cNvSpPr txBox="1"/>
          <p:nvPr/>
        </p:nvSpPr>
        <p:spPr>
          <a:xfrm>
            <a:off x="7882127" y="5806440"/>
            <a:ext cx="3566160" cy="411480"/>
          </a:xfrm>
          <a:prstGeom prst="rect">
            <a:avLst/>
          </a:prstGeom>
          <a:noFill/>
        </p:spPr>
        <p:txBody>
          <a:bodyPr wrap="square" lIns="54864" rIns="54864" anchor="ctr">
            <a:spAutoFit/>
          </a:bodyPr>
          <a:lstStyle/>
          <a:p>
            <a:pPr>
              <a:spcAft>
                <a:spcPts val="800"/>
              </a:spcAft>
            </a:pPr>
            <a:r>
              <a:rPr sz="1300" b="1">
                <a:solidFill>
                  <a:srgbClr val="346B89"/>
                </a:solidFill>
                <a:latin typeface="Aptos"/>
              </a:rPr>
              <a:t>LANGUE / VIE QUOTIDIENNE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64592"/>
            <a:ext cx="10881360" cy="338328"/>
          </a:xfrm>
          <a:prstGeom prst="rect">
            <a:avLst/>
          </a:prstGeom>
          <a:noFill/>
        </p:spPr>
        <p:txBody>
          <a:bodyPr wrap="square" lIns="54864" rIns="54864" anchor="ctr">
            <a:spAutoFit/>
          </a:bodyPr>
          <a:lstStyle/>
          <a:p>
            <a:pPr>
              <a:spcAft>
                <a:spcPts val="800"/>
              </a:spcAft>
            </a:pPr>
            <a:r>
              <a:rPr sz="1400" b="1">
                <a:solidFill>
                  <a:srgbClr val="346B89"/>
                </a:solidFill>
                <a:latin typeface="Aptos"/>
              </a:rPr>
              <a:t>LUNDI 21 SEPTEMBRE 2026</a:t>
            </a:r>
          </a:p>
        </p:txBody>
      </p:sp>
      <p:sp>
        <p:nvSpPr>
          <p:cNvPr id="4" name="TextBox 3"/>
          <p:cNvSpPr txBox="1"/>
          <p:nvPr/>
        </p:nvSpPr>
        <p:spPr>
          <a:xfrm>
            <a:off x="640080" y="594360"/>
            <a:ext cx="10881360" cy="621792"/>
          </a:xfrm>
          <a:prstGeom prst="rect">
            <a:avLst/>
          </a:prstGeom>
          <a:noFill/>
        </p:spPr>
        <p:txBody>
          <a:bodyPr wrap="square" lIns="54864" rIns="54864" anchor="ctr">
            <a:spAutoFit/>
          </a:bodyPr>
          <a:lstStyle/>
          <a:p>
            <a:pPr>
              <a:spcAft>
                <a:spcPts val="800"/>
              </a:spcAft>
            </a:pPr>
            <a:r>
              <a:rPr sz="2900" b="1">
                <a:solidFill>
                  <a:srgbClr val="222F37"/>
                </a:solidFill>
                <a:latin typeface="Aptos"/>
              </a:rPr>
              <a:t>Découvrons le Japon · Sakura et Totoro</a:t>
            </a:r>
          </a:p>
        </p:txBody>
      </p:sp>
      <p:sp>
        <p:nvSpPr>
          <p:cNvPr id="5" name="Rounded Rectangle 4"/>
          <p:cNvSpPr/>
          <p:nvPr/>
        </p:nvSpPr>
        <p:spPr>
          <a:xfrm>
            <a:off x="658368" y="1389888"/>
            <a:ext cx="694944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2175698"/>
            <a:ext cx="6519672" cy="3375283"/>
          </a:xfrm>
          <a:prstGeom prst="rect">
            <a:avLst/>
          </a:prstGeom>
          <a:noFill/>
        </p:spPr>
        <p:txBody>
          <a:bodyPr wrap="square" lIns="54864" rIns="54864" anchor="ctr">
            <a:spAutoFit/>
          </a:bodyPr>
          <a:lstStyle/>
          <a:p>
            <a:pPr>
              <a:spcAft>
                <a:spcPts val="800"/>
              </a:spcAft>
            </a:pPr>
            <a:r>
              <a:rPr sz="2000" b="0" dirty="0">
                <a:solidFill>
                  <a:srgbClr val="222F37"/>
                </a:solidFill>
                <a:latin typeface="Aptos"/>
              </a:rPr>
              <a:t>Au </a:t>
            </a:r>
            <a:r>
              <a:rPr sz="2000" b="0" dirty="0" err="1">
                <a:solidFill>
                  <a:srgbClr val="222F37"/>
                </a:solidFill>
                <a:latin typeface="Aptos"/>
              </a:rPr>
              <a:t>printemps</a:t>
            </a:r>
            <a:r>
              <a:rPr sz="2000" b="0" dirty="0">
                <a:solidFill>
                  <a:srgbClr val="222F37"/>
                </a:solidFill>
                <a:latin typeface="Aptos"/>
              </a:rPr>
              <a:t>, les </a:t>
            </a:r>
            <a:r>
              <a:rPr sz="2000" b="0" dirty="0" err="1">
                <a:solidFill>
                  <a:srgbClr val="222F37"/>
                </a:solidFill>
                <a:latin typeface="Aptos"/>
              </a:rPr>
              <a:t>cerisiers</a:t>
            </a:r>
            <a:r>
              <a:rPr sz="2000" b="0" dirty="0">
                <a:solidFill>
                  <a:srgbClr val="222F37"/>
                </a:solidFill>
                <a:latin typeface="Aptos"/>
              </a:rPr>
              <a:t> du </a:t>
            </a:r>
            <a:r>
              <a:rPr sz="2000" b="0" dirty="0" err="1">
                <a:solidFill>
                  <a:srgbClr val="222F37"/>
                </a:solidFill>
                <a:latin typeface="Aptos"/>
              </a:rPr>
              <a:t>Japon</a:t>
            </a:r>
            <a:r>
              <a:rPr sz="2000" b="0" dirty="0">
                <a:solidFill>
                  <a:srgbClr val="222F37"/>
                </a:solidFill>
                <a:latin typeface="Aptos"/>
              </a:rPr>
              <a:t> se </a:t>
            </a:r>
            <a:r>
              <a:rPr sz="2000" b="0" dirty="0" err="1">
                <a:solidFill>
                  <a:srgbClr val="222F37"/>
                </a:solidFill>
                <a:latin typeface="Aptos"/>
              </a:rPr>
              <a:t>couvrent</a:t>
            </a:r>
            <a:r>
              <a:rPr sz="2000" b="0" dirty="0">
                <a:solidFill>
                  <a:srgbClr val="222F37"/>
                </a:solidFill>
                <a:latin typeface="Aptos"/>
              </a:rPr>
              <a:t> de fleurs roses </a:t>
            </a:r>
            <a:r>
              <a:rPr sz="2000" b="0" dirty="0" err="1">
                <a:solidFill>
                  <a:srgbClr val="222F37"/>
                </a:solidFill>
                <a:latin typeface="Aptos"/>
              </a:rPr>
              <a:t>ou</a:t>
            </a:r>
            <a:r>
              <a:rPr sz="2000" b="0" dirty="0">
                <a:solidFill>
                  <a:srgbClr val="222F37"/>
                </a:solidFill>
                <a:latin typeface="Aptos"/>
              </a:rPr>
              <a:t> blanches : </a:t>
            </a:r>
            <a:r>
              <a:rPr sz="2000" b="0" dirty="0" err="1">
                <a:solidFill>
                  <a:srgbClr val="222F37"/>
                </a:solidFill>
                <a:latin typeface="Aptos"/>
              </a:rPr>
              <a:t>ce</a:t>
            </a:r>
            <a:r>
              <a:rPr sz="2000" b="0" dirty="0">
                <a:solidFill>
                  <a:srgbClr val="222F37"/>
                </a:solidFill>
                <a:latin typeface="Aptos"/>
              </a:rPr>
              <a:t> </a:t>
            </a:r>
            <a:r>
              <a:rPr sz="2000" b="0" dirty="0" err="1">
                <a:solidFill>
                  <a:srgbClr val="222F37"/>
                </a:solidFill>
                <a:latin typeface="Aptos"/>
              </a:rPr>
              <a:t>sont</a:t>
            </a:r>
            <a:r>
              <a:rPr sz="2000" b="0" dirty="0">
                <a:solidFill>
                  <a:srgbClr val="222F37"/>
                </a:solidFill>
                <a:latin typeface="Aptos"/>
              </a:rPr>
              <a:t> les </a:t>
            </a:r>
            <a:r>
              <a:rPr sz="2000" b="0" dirty="0" err="1">
                <a:solidFill>
                  <a:srgbClr val="222F37"/>
                </a:solidFill>
                <a:latin typeface="Aptos"/>
              </a:rPr>
              <a:t>sakura</a:t>
            </a:r>
            <a:r>
              <a:rPr sz="2000" b="0" dirty="0">
                <a:solidFill>
                  <a:srgbClr val="222F37"/>
                </a:solidFill>
                <a:latin typeface="Aptos"/>
              </a:rPr>
              <a:t>. Pendant le </a:t>
            </a:r>
            <a:r>
              <a:rPr sz="2000" b="0" dirty="0" err="1">
                <a:solidFill>
                  <a:srgbClr val="222F37"/>
                </a:solidFill>
                <a:latin typeface="Aptos"/>
              </a:rPr>
              <a:t>hanami</a:t>
            </a:r>
            <a:r>
              <a:rPr sz="2000" b="0" dirty="0">
                <a:solidFill>
                  <a:srgbClr val="222F37"/>
                </a:solidFill>
                <a:latin typeface="Aptos"/>
              </a:rPr>
              <a:t>, des </a:t>
            </a:r>
            <a:r>
              <a:rPr sz="2000" b="0" dirty="0" err="1">
                <a:solidFill>
                  <a:srgbClr val="222F37"/>
                </a:solidFill>
                <a:latin typeface="Aptos"/>
              </a:rPr>
              <a:t>personnes</a:t>
            </a:r>
            <a:r>
              <a:rPr sz="2000" b="0" dirty="0">
                <a:solidFill>
                  <a:srgbClr val="222F37"/>
                </a:solidFill>
                <a:latin typeface="Aptos"/>
              </a:rPr>
              <a:t> se </a:t>
            </a:r>
            <a:r>
              <a:rPr sz="2000" b="0" dirty="0" err="1">
                <a:solidFill>
                  <a:srgbClr val="222F37"/>
                </a:solidFill>
                <a:latin typeface="Aptos"/>
              </a:rPr>
              <a:t>retrouvent</a:t>
            </a:r>
            <a:r>
              <a:rPr sz="2000" b="0" dirty="0">
                <a:solidFill>
                  <a:srgbClr val="222F37"/>
                </a:solidFill>
                <a:latin typeface="Aptos"/>
              </a:rPr>
              <a:t> dans les parcs pour admirer </a:t>
            </a:r>
            <a:r>
              <a:rPr sz="2000" b="0" dirty="0" err="1">
                <a:solidFill>
                  <a:srgbClr val="222F37"/>
                </a:solidFill>
                <a:latin typeface="Aptos"/>
              </a:rPr>
              <a:t>leur</a:t>
            </a:r>
            <a:r>
              <a:rPr sz="2000" b="0" dirty="0">
                <a:solidFill>
                  <a:srgbClr val="222F37"/>
                </a:solidFill>
                <a:latin typeface="Aptos"/>
              </a:rPr>
              <a:t> floraison. Les fleurs ne </a:t>
            </a:r>
            <a:r>
              <a:rPr sz="2000" b="0" dirty="0" err="1">
                <a:solidFill>
                  <a:srgbClr val="222F37"/>
                </a:solidFill>
                <a:latin typeface="Aptos"/>
              </a:rPr>
              <a:t>durent</a:t>
            </a:r>
            <a:r>
              <a:rPr sz="2000" b="0" dirty="0">
                <a:solidFill>
                  <a:srgbClr val="222F37"/>
                </a:solidFill>
                <a:latin typeface="Aptos"/>
              </a:rPr>
              <a:t> que peu de temps : </a:t>
            </a:r>
            <a:r>
              <a:rPr sz="2000" b="0" dirty="0" err="1">
                <a:solidFill>
                  <a:srgbClr val="222F37"/>
                </a:solidFill>
                <a:latin typeface="Aptos"/>
              </a:rPr>
              <a:t>elles</a:t>
            </a:r>
            <a:r>
              <a:rPr sz="2000" b="0" dirty="0">
                <a:solidFill>
                  <a:srgbClr val="222F37"/>
                </a:solidFill>
                <a:latin typeface="Aptos"/>
              </a:rPr>
              <a:t> </a:t>
            </a:r>
            <a:r>
              <a:rPr sz="2000" b="0" dirty="0" err="1">
                <a:solidFill>
                  <a:srgbClr val="222F37"/>
                </a:solidFill>
                <a:latin typeface="Aptos"/>
              </a:rPr>
              <a:t>rappellent</a:t>
            </a:r>
            <a:r>
              <a:rPr sz="2000" b="0" dirty="0">
                <a:solidFill>
                  <a:srgbClr val="222F37"/>
                </a:solidFill>
                <a:latin typeface="Aptos"/>
              </a:rPr>
              <a:t> que les beaux moments </a:t>
            </a:r>
            <a:r>
              <a:rPr sz="2000" b="0" dirty="0" err="1">
                <a:solidFill>
                  <a:srgbClr val="222F37"/>
                </a:solidFill>
                <a:latin typeface="Aptos"/>
              </a:rPr>
              <a:t>sont</a:t>
            </a:r>
            <a:r>
              <a:rPr sz="2000" b="0" dirty="0">
                <a:solidFill>
                  <a:srgbClr val="222F37"/>
                </a:solidFill>
                <a:latin typeface="Aptos"/>
              </a:rPr>
              <a:t> </a:t>
            </a:r>
            <a:r>
              <a:rPr sz="2000" b="0" dirty="0" err="1">
                <a:solidFill>
                  <a:srgbClr val="222F37"/>
                </a:solidFill>
                <a:latin typeface="Aptos"/>
              </a:rPr>
              <a:t>précieux</a:t>
            </a:r>
            <a:r>
              <a:rPr sz="2000" b="0" dirty="0">
                <a:solidFill>
                  <a:srgbClr val="222F37"/>
                </a:solidFill>
                <a:latin typeface="Aptos"/>
              </a:rPr>
              <a:t>.</a:t>
            </a:r>
          </a:p>
          <a:p>
            <a:pPr>
              <a:spcAft>
                <a:spcPts val="800"/>
              </a:spcAft>
            </a:pPr>
            <a:endParaRPr sz="2000" b="0" dirty="0">
              <a:solidFill>
                <a:srgbClr val="222F37"/>
              </a:solidFill>
              <a:latin typeface="Aptos"/>
            </a:endParaRPr>
          </a:p>
          <a:p>
            <a:pPr>
              <a:spcAft>
                <a:spcPts val="800"/>
              </a:spcAft>
            </a:pPr>
            <a:r>
              <a:rPr sz="2000" b="0" dirty="0">
                <a:solidFill>
                  <a:srgbClr val="222F37"/>
                </a:solidFill>
                <a:latin typeface="Aptos"/>
              </a:rPr>
              <a:t>Notre </a:t>
            </a:r>
            <a:r>
              <a:rPr sz="2000" b="0" dirty="0" err="1">
                <a:solidFill>
                  <a:srgbClr val="222F37"/>
                </a:solidFill>
                <a:latin typeface="Aptos"/>
              </a:rPr>
              <a:t>mascotte</a:t>
            </a:r>
            <a:r>
              <a:rPr sz="2000" b="0" dirty="0">
                <a:solidFill>
                  <a:srgbClr val="222F37"/>
                </a:solidFill>
                <a:latin typeface="Aptos"/>
              </a:rPr>
              <a:t> Totoro fait </a:t>
            </a:r>
            <a:r>
              <a:rPr sz="2000" b="0" dirty="0" err="1">
                <a:solidFill>
                  <a:srgbClr val="222F37"/>
                </a:solidFill>
                <a:latin typeface="Aptos"/>
              </a:rPr>
              <a:t>penser</a:t>
            </a:r>
            <a:r>
              <a:rPr sz="2000" b="0" dirty="0">
                <a:solidFill>
                  <a:srgbClr val="222F37"/>
                </a:solidFill>
                <a:latin typeface="Aptos"/>
              </a:rPr>
              <a:t> au film </a:t>
            </a:r>
            <a:r>
              <a:rPr sz="2000" b="0" dirty="0" err="1">
                <a:solidFill>
                  <a:srgbClr val="222F37"/>
                </a:solidFill>
                <a:latin typeface="Aptos"/>
              </a:rPr>
              <a:t>d’animation</a:t>
            </a:r>
            <a:r>
              <a:rPr sz="2000" b="0" dirty="0">
                <a:solidFill>
                  <a:srgbClr val="222F37"/>
                </a:solidFill>
                <a:latin typeface="Aptos"/>
              </a:rPr>
              <a:t> </a:t>
            </a:r>
            <a:r>
              <a:rPr sz="2000" b="0" dirty="0" err="1">
                <a:solidFill>
                  <a:srgbClr val="222F37"/>
                </a:solidFill>
                <a:latin typeface="Aptos"/>
              </a:rPr>
              <a:t>japonais</a:t>
            </a:r>
            <a:r>
              <a:rPr sz="2000" b="0" dirty="0">
                <a:solidFill>
                  <a:srgbClr val="222F37"/>
                </a:solidFill>
                <a:latin typeface="Aptos"/>
              </a:rPr>
              <a:t> Mon </a:t>
            </a:r>
            <a:r>
              <a:rPr sz="2000" b="0" dirty="0" err="1">
                <a:solidFill>
                  <a:srgbClr val="222F37"/>
                </a:solidFill>
                <a:latin typeface="Aptos"/>
              </a:rPr>
              <a:t>voisin</a:t>
            </a:r>
            <a:r>
              <a:rPr sz="2000" b="0" dirty="0">
                <a:solidFill>
                  <a:srgbClr val="222F37"/>
                </a:solidFill>
                <a:latin typeface="Aptos"/>
              </a:rPr>
              <a:t> Totoro, </a:t>
            </a:r>
            <a:r>
              <a:rPr sz="2000" b="0" dirty="0" err="1">
                <a:solidFill>
                  <a:srgbClr val="222F37"/>
                </a:solidFill>
                <a:latin typeface="Aptos"/>
              </a:rPr>
              <a:t>réalisé</a:t>
            </a:r>
            <a:r>
              <a:rPr sz="2000" b="0" dirty="0">
                <a:solidFill>
                  <a:srgbClr val="222F37"/>
                </a:solidFill>
                <a:latin typeface="Aptos"/>
              </a:rPr>
              <a:t> par Hayao Miyazaki. Le film met </a:t>
            </a:r>
            <a:r>
              <a:rPr sz="2000" b="0" dirty="0" err="1">
                <a:solidFill>
                  <a:srgbClr val="222F37"/>
                </a:solidFill>
                <a:latin typeface="Aptos"/>
              </a:rPr>
              <a:t>en</a:t>
            </a:r>
            <a:r>
              <a:rPr sz="2000" b="0" dirty="0">
                <a:solidFill>
                  <a:srgbClr val="222F37"/>
                </a:solidFill>
                <a:latin typeface="Aptos"/>
              </a:rPr>
              <a:t> </a:t>
            </a:r>
            <a:r>
              <a:rPr sz="2000" b="0" dirty="0" err="1">
                <a:solidFill>
                  <a:srgbClr val="222F37"/>
                </a:solidFill>
                <a:latin typeface="Aptos"/>
              </a:rPr>
              <a:t>scène</a:t>
            </a:r>
            <a:r>
              <a:rPr sz="2000" b="0" dirty="0">
                <a:solidFill>
                  <a:srgbClr val="222F37"/>
                </a:solidFill>
                <a:latin typeface="Aptos"/>
              </a:rPr>
              <a:t> deux </a:t>
            </a:r>
            <a:r>
              <a:rPr sz="2000" b="0" dirty="0" err="1">
                <a:solidFill>
                  <a:srgbClr val="222F37"/>
                </a:solidFill>
                <a:latin typeface="Aptos"/>
              </a:rPr>
              <a:t>sœurs</a:t>
            </a:r>
            <a:r>
              <a:rPr sz="2000" b="0" dirty="0">
                <a:solidFill>
                  <a:srgbClr val="222F37"/>
                </a:solidFill>
                <a:latin typeface="Aptos"/>
              </a:rPr>
              <a:t> et </a:t>
            </a:r>
            <a:r>
              <a:rPr sz="2000" b="0" dirty="0" err="1">
                <a:solidFill>
                  <a:srgbClr val="222F37"/>
                </a:solidFill>
                <a:latin typeface="Aptos"/>
              </a:rPr>
              <a:t>une</a:t>
            </a:r>
            <a:r>
              <a:rPr sz="2000" b="0" dirty="0">
                <a:solidFill>
                  <a:srgbClr val="222F37"/>
                </a:solidFill>
                <a:latin typeface="Aptos"/>
              </a:rPr>
              <a:t> </a:t>
            </a:r>
            <a:r>
              <a:rPr sz="2000" b="0" dirty="0" err="1">
                <a:solidFill>
                  <a:srgbClr val="222F37"/>
                </a:solidFill>
                <a:latin typeface="Aptos"/>
              </a:rPr>
              <a:t>mystérieuse</a:t>
            </a:r>
            <a:r>
              <a:rPr sz="2000" b="0" dirty="0">
                <a:solidFill>
                  <a:srgbClr val="222F37"/>
                </a:solidFill>
                <a:latin typeface="Aptos"/>
              </a:rPr>
              <a:t> </a:t>
            </a:r>
            <a:r>
              <a:rPr sz="2000" b="0" dirty="0" err="1">
                <a:solidFill>
                  <a:srgbClr val="222F37"/>
                </a:solidFill>
                <a:latin typeface="Aptos"/>
              </a:rPr>
              <a:t>créature</a:t>
            </a:r>
            <a:r>
              <a:rPr sz="2000" b="0" dirty="0">
                <a:solidFill>
                  <a:srgbClr val="222F37"/>
                </a:solidFill>
                <a:latin typeface="Aptos"/>
              </a:rPr>
              <a:t> de la </a:t>
            </a:r>
            <a:r>
              <a:rPr sz="2000" b="0" dirty="0" err="1">
                <a:solidFill>
                  <a:srgbClr val="222F37"/>
                </a:solidFill>
                <a:latin typeface="Aptos"/>
              </a:rPr>
              <a:t>forêt</a:t>
            </a:r>
            <a:r>
              <a:rPr sz="2000" b="0" dirty="0">
                <a:solidFill>
                  <a:srgbClr val="222F37"/>
                </a:solidFill>
                <a:latin typeface="Aptos"/>
              </a:rPr>
              <a:t>. Au </a:t>
            </a:r>
            <a:r>
              <a:rPr sz="2000" b="0" dirty="0" err="1">
                <a:solidFill>
                  <a:srgbClr val="222F37"/>
                </a:solidFill>
                <a:latin typeface="Aptos"/>
              </a:rPr>
              <a:t>Japon</a:t>
            </a:r>
            <a:r>
              <a:rPr sz="2000" b="0" dirty="0">
                <a:solidFill>
                  <a:srgbClr val="222F37"/>
                </a:solidFill>
                <a:latin typeface="Aptos"/>
              </a:rPr>
              <a:t>, </a:t>
            </a:r>
            <a:r>
              <a:rPr sz="2000" b="0" dirty="0" err="1">
                <a:solidFill>
                  <a:srgbClr val="222F37"/>
                </a:solidFill>
                <a:latin typeface="Aptos"/>
              </a:rPr>
              <a:t>l’animation</a:t>
            </a:r>
            <a:r>
              <a:rPr sz="2000" b="0" dirty="0">
                <a:solidFill>
                  <a:srgbClr val="222F37"/>
                </a:solidFill>
                <a:latin typeface="Aptos"/>
              </a:rPr>
              <a:t> </a:t>
            </a:r>
            <a:r>
              <a:rPr sz="2000" b="0" dirty="0" err="1">
                <a:solidFill>
                  <a:srgbClr val="222F37"/>
                </a:solidFill>
                <a:latin typeface="Aptos"/>
              </a:rPr>
              <a:t>est</a:t>
            </a:r>
            <a:r>
              <a:rPr sz="2000" b="0" dirty="0">
                <a:solidFill>
                  <a:srgbClr val="222F37"/>
                </a:solidFill>
                <a:latin typeface="Aptos"/>
              </a:rPr>
              <a:t> un art très </a:t>
            </a:r>
            <a:r>
              <a:rPr sz="2000" b="0" dirty="0" err="1">
                <a:solidFill>
                  <a:srgbClr val="222F37"/>
                </a:solidFill>
                <a:latin typeface="Aptos"/>
              </a:rPr>
              <a:t>populaire</a:t>
            </a:r>
            <a:r>
              <a:rPr lang="fr-FR" sz="2000" dirty="0">
                <a:solidFill>
                  <a:srgbClr val="222F37"/>
                </a:solidFill>
                <a:latin typeface="Aptos"/>
              </a:rPr>
              <a:t>.</a:t>
            </a:r>
            <a:endParaRPr sz="2000" b="0" dirty="0">
              <a:solidFill>
                <a:srgbClr val="222F37"/>
              </a:solidFill>
              <a:latin typeface="Aptos"/>
            </a:endParaRPr>
          </a:p>
        </p:txBody>
      </p:sp>
      <p:sp>
        <p:nvSpPr>
          <p:cNvPr id="7" name="Rounded Rectangle 6"/>
          <p:cNvSpPr/>
          <p:nvPr/>
        </p:nvSpPr>
        <p:spPr>
          <a:xfrm>
            <a:off x="7845552" y="1389888"/>
            <a:ext cx="3703320" cy="42519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938528"/>
            <a:ext cx="3108960" cy="548640"/>
          </a:xfrm>
          <a:prstGeom prst="rect">
            <a:avLst/>
          </a:prstGeom>
          <a:noFill/>
        </p:spPr>
        <p:txBody>
          <a:bodyPr wrap="square" lIns="54864" rIns="54864" anchor="ctr">
            <a:spAutoFit/>
          </a:bodyPr>
          <a:lstStyle/>
          <a:p>
            <a:pPr>
              <a:spcAft>
                <a:spcPts val="800"/>
              </a:spcAft>
            </a:pPr>
            <a:r>
              <a:rPr sz="1800" b="1">
                <a:solidFill>
                  <a:srgbClr val="B53B37"/>
                </a:solidFill>
                <a:latin typeface="Aptos"/>
              </a:rPr>
              <a:t>PHOTO À INSÉRER</a:t>
            </a:r>
          </a:p>
        </p:txBody>
      </p:sp>
      <p:sp>
        <p:nvSpPr>
          <p:cNvPr id="9" name="TextBox 8"/>
          <p:cNvSpPr txBox="1"/>
          <p:nvPr/>
        </p:nvSpPr>
        <p:spPr>
          <a:xfrm>
            <a:off x="8138160" y="2596896"/>
            <a:ext cx="3063240" cy="2148840"/>
          </a:xfrm>
          <a:prstGeom prst="rect">
            <a:avLst/>
          </a:prstGeom>
          <a:noFill/>
        </p:spPr>
        <p:txBody>
          <a:bodyPr wrap="square" lIns="54864" rIns="54864" anchor="ctr">
            <a:spAutoFit/>
          </a:bodyPr>
          <a:lstStyle/>
          <a:p>
            <a:pPr>
              <a:spcAft>
                <a:spcPts val="800"/>
              </a:spcAft>
            </a:pPr>
            <a:r>
              <a:rPr sz="1900" b="0">
                <a:solidFill>
                  <a:srgbClr val="222F37"/>
                </a:solidFill>
                <a:latin typeface="Aptos"/>
              </a:rPr>
              <a:t>Photographie de cerisiers sakura en fleurs dans un parc japonais.</a:t>
            </a:r>
          </a:p>
        </p:txBody>
      </p:sp>
      <p:sp>
        <p:nvSpPr>
          <p:cNvPr id="10" name="TextBox 9"/>
          <p:cNvSpPr txBox="1"/>
          <p:nvPr/>
        </p:nvSpPr>
        <p:spPr>
          <a:xfrm>
            <a:off x="7882127" y="5806440"/>
            <a:ext cx="3566160" cy="411480"/>
          </a:xfrm>
          <a:prstGeom prst="rect">
            <a:avLst/>
          </a:prstGeom>
          <a:noFill/>
        </p:spPr>
        <p:txBody>
          <a:bodyPr wrap="square" lIns="54864" rIns="54864" anchor="ctr">
            <a:spAutoFit/>
          </a:bodyPr>
          <a:lstStyle/>
          <a:p>
            <a:pPr>
              <a:spcAft>
                <a:spcPts val="800"/>
              </a:spcAft>
            </a:pPr>
            <a:r>
              <a:rPr sz="1300" b="1">
                <a:solidFill>
                  <a:srgbClr val="346B89"/>
                </a:solidFill>
                <a:latin typeface="Aptos"/>
              </a:rPr>
              <a:t>TRADITIONS / ANIMATION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164592"/>
            <a:ext cx="10881360" cy="338328"/>
          </a:xfrm>
          <a:prstGeom prst="rect">
            <a:avLst/>
          </a:prstGeom>
          <a:noFill/>
        </p:spPr>
        <p:txBody>
          <a:bodyPr wrap="square" lIns="54864" rIns="54864" anchor="ctr">
            <a:spAutoFit/>
          </a:bodyPr>
          <a:lstStyle/>
          <a:p>
            <a:pPr>
              <a:spcAft>
                <a:spcPts val="800"/>
              </a:spcAft>
            </a:pPr>
            <a:r>
              <a:rPr sz="1400" b="1">
                <a:solidFill>
                  <a:srgbClr val="346B89"/>
                </a:solidFill>
                <a:latin typeface="Aptos"/>
              </a:rPr>
              <a:t>LUNDI 21 SEPTEMBRE 2026</a:t>
            </a:r>
          </a:p>
        </p:txBody>
      </p:sp>
      <p:sp>
        <p:nvSpPr>
          <p:cNvPr id="4" name="TextBox 3"/>
          <p:cNvSpPr txBox="1"/>
          <p:nvPr/>
        </p:nvSpPr>
        <p:spPr>
          <a:xfrm>
            <a:off x="640080" y="594360"/>
            <a:ext cx="10881360" cy="621792"/>
          </a:xfrm>
          <a:prstGeom prst="rect">
            <a:avLst/>
          </a:prstGeom>
          <a:noFill/>
        </p:spPr>
        <p:txBody>
          <a:bodyPr wrap="square" lIns="54864" rIns="54864" anchor="ctr">
            <a:spAutoFit/>
          </a:bodyPr>
          <a:lstStyle/>
          <a:p>
            <a:pPr>
              <a:spcAft>
                <a:spcPts val="800"/>
              </a:spcAft>
            </a:pPr>
            <a:r>
              <a:rPr sz="2900" b="1">
                <a:solidFill>
                  <a:srgbClr val="222F37"/>
                </a:solidFill>
                <a:latin typeface="Aptos"/>
              </a:rPr>
              <a:t>Découvrons le Japon · Les mangas</a:t>
            </a:r>
          </a:p>
        </p:txBody>
      </p:sp>
      <p:sp>
        <p:nvSpPr>
          <p:cNvPr id="5" name="Rounded Rectangle 4"/>
          <p:cNvSpPr/>
          <p:nvPr/>
        </p:nvSpPr>
        <p:spPr>
          <a:xfrm>
            <a:off x="658368" y="1389888"/>
            <a:ext cx="6949440" cy="48920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600200"/>
            <a:ext cx="6519672" cy="4526280"/>
          </a:xfrm>
          <a:prstGeom prst="rect">
            <a:avLst/>
          </a:prstGeom>
          <a:noFill/>
        </p:spPr>
        <p:txBody>
          <a:bodyPr wrap="square" lIns="54864" rIns="54864" anchor="ctr">
            <a:spAutoFit/>
          </a:bodyPr>
          <a:lstStyle/>
          <a:p>
            <a:pPr>
              <a:spcAft>
                <a:spcPts val="800"/>
              </a:spcAft>
            </a:pPr>
            <a:r>
              <a:rPr sz="2000" b="0" dirty="0">
                <a:solidFill>
                  <a:srgbClr val="222F37"/>
                </a:solidFill>
                <a:latin typeface="Aptos"/>
              </a:rPr>
              <a:t>Un manga </a:t>
            </a:r>
            <a:r>
              <a:rPr sz="2000" b="0" dirty="0" err="1">
                <a:solidFill>
                  <a:srgbClr val="222F37"/>
                </a:solidFill>
                <a:latin typeface="Aptos"/>
              </a:rPr>
              <a:t>est</a:t>
            </a:r>
            <a:r>
              <a:rPr sz="2000" b="0" dirty="0">
                <a:solidFill>
                  <a:srgbClr val="222F37"/>
                </a:solidFill>
                <a:latin typeface="Aptos"/>
              </a:rPr>
              <a:t> </a:t>
            </a:r>
            <a:r>
              <a:rPr sz="2000" b="0" dirty="0" err="1">
                <a:solidFill>
                  <a:srgbClr val="222F37"/>
                </a:solidFill>
                <a:latin typeface="Aptos"/>
              </a:rPr>
              <a:t>une</a:t>
            </a:r>
            <a:r>
              <a:rPr sz="2000" b="0" dirty="0">
                <a:solidFill>
                  <a:srgbClr val="222F37"/>
                </a:solidFill>
                <a:latin typeface="Aptos"/>
              </a:rPr>
              <a:t> </a:t>
            </a:r>
            <a:r>
              <a:rPr sz="2000" b="0" dirty="0" err="1">
                <a:solidFill>
                  <a:srgbClr val="222F37"/>
                </a:solidFill>
                <a:latin typeface="Aptos"/>
              </a:rPr>
              <a:t>bande</a:t>
            </a:r>
            <a:r>
              <a:rPr sz="2000" b="0" dirty="0">
                <a:solidFill>
                  <a:srgbClr val="222F37"/>
                </a:solidFill>
                <a:latin typeface="Aptos"/>
              </a:rPr>
              <a:t> </a:t>
            </a:r>
            <a:r>
              <a:rPr sz="2000" b="0" dirty="0" err="1">
                <a:solidFill>
                  <a:srgbClr val="222F37"/>
                </a:solidFill>
                <a:latin typeface="Aptos"/>
              </a:rPr>
              <a:t>dessinée</a:t>
            </a:r>
            <a:r>
              <a:rPr sz="2000" b="0" dirty="0">
                <a:solidFill>
                  <a:srgbClr val="222F37"/>
                </a:solidFill>
                <a:latin typeface="Aptos"/>
              </a:rPr>
              <a:t> </a:t>
            </a:r>
            <a:r>
              <a:rPr sz="2000" b="0" dirty="0" err="1">
                <a:solidFill>
                  <a:srgbClr val="222F37"/>
                </a:solidFill>
                <a:latin typeface="Aptos"/>
              </a:rPr>
              <a:t>japonaise</a:t>
            </a:r>
            <a:r>
              <a:rPr sz="2000" b="0" dirty="0">
                <a:solidFill>
                  <a:srgbClr val="222F37"/>
                </a:solidFill>
                <a:latin typeface="Aptos"/>
              </a:rPr>
              <a:t>. Dans les </a:t>
            </a:r>
            <a:r>
              <a:rPr sz="2000" b="0" dirty="0" err="1">
                <a:solidFill>
                  <a:srgbClr val="222F37"/>
                </a:solidFill>
                <a:latin typeface="Aptos"/>
              </a:rPr>
              <a:t>éditions</a:t>
            </a:r>
            <a:r>
              <a:rPr sz="2000" b="0" dirty="0">
                <a:solidFill>
                  <a:srgbClr val="222F37"/>
                </a:solidFill>
                <a:latin typeface="Aptos"/>
              </a:rPr>
              <a:t> </a:t>
            </a:r>
            <a:r>
              <a:rPr sz="2000" b="0" dirty="0" err="1">
                <a:solidFill>
                  <a:srgbClr val="222F37"/>
                </a:solidFill>
                <a:latin typeface="Aptos"/>
              </a:rPr>
              <a:t>japonaises</a:t>
            </a:r>
            <a:r>
              <a:rPr sz="2000" b="0" dirty="0">
                <a:solidFill>
                  <a:srgbClr val="222F37"/>
                </a:solidFill>
                <a:latin typeface="Aptos"/>
              </a:rPr>
              <a:t> </a:t>
            </a:r>
            <a:r>
              <a:rPr sz="2000" b="0" dirty="0" err="1">
                <a:solidFill>
                  <a:srgbClr val="222F37"/>
                </a:solidFill>
                <a:latin typeface="Aptos"/>
              </a:rPr>
              <a:t>traditionnelles</a:t>
            </a:r>
            <a:r>
              <a:rPr sz="2000" b="0" dirty="0">
                <a:solidFill>
                  <a:srgbClr val="222F37"/>
                </a:solidFill>
                <a:latin typeface="Aptos"/>
              </a:rPr>
              <a:t>, on commence par </a:t>
            </a:r>
            <a:r>
              <a:rPr sz="2000" b="0" dirty="0" err="1">
                <a:solidFill>
                  <a:srgbClr val="222F37"/>
                </a:solidFill>
                <a:latin typeface="Aptos"/>
              </a:rPr>
              <a:t>ce</a:t>
            </a:r>
            <a:r>
              <a:rPr sz="2000" b="0" dirty="0">
                <a:solidFill>
                  <a:srgbClr val="222F37"/>
                </a:solidFill>
                <a:latin typeface="Aptos"/>
              </a:rPr>
              <a:t> qui </a:t>
            </a:r>
            <a:r>
              <a:rPr sz="2000" b="0" dirty="0" err="1">
                <a:solidFill>
                  <a:srgbClr val="222F37"/>
                </a:solidFill>
                <a:latin typeface="Aptos"/>
              </a:rPr>
              <a:t>serait</a:t>
            </a:r>
            <a:r>
              <a:rPr sz="2000" b="0" dirty="0">
                <a:solidFill>
                  <a:srgbClr val="222F37"/>
                </a:solidFill>
                <a:latin typeface="Aptos"/>
              </a:rPr>
              <a:t> la </a:t>
            </a:r>
            <a:r>
              <a:rPr sz="2000" b="0" dirty="0" err="1">
                <a:solidFill>
                  <a:srgbClr val="222F37"/>
                </a:solidFill>
                <a:latin typeface="Aptos"/>
              </a:rPr>
              <a:t>dernière</a:t>
            </a:r>
            <a:r>
              <a:rPr sz="2000" b="0" dirty="0">
                <a:solidFill>
                  <a:srgbClr val="222F37"/>
                </a:solidFill>
                <a:latin typeface="Aptos"/>
              </a:rPr>
              <a:t> page d’un livre français : on lit de droite à gauche. Sur </a:t>
            </a:r>
            <a:r>
              <a:rPr sz="2000" b="0" dirty="0" err="1">
                <a:solidFill>
                  <a:srgbClr val="222F37"/>
                </a:solidFill>
                <a:latin typeface="Aptos"/>
              </a:rPr>
              <a:t>chaque</a:t>
            </a:r>
            <a:r>
              <a:rPr sz="2000" b="0" dirty="0">
                <a:solidFill>
                  <a:srgbClr val="222F37"/>
                </a:solidFill>
                <a:latin typeface="Aptos"/>
              </a:rPr>
              <a:t> page, on suit </a:t>
            </a:r>
            <a:r>
              <a:rPr sz="2000" b="0" dirty="0" err="1">
                <a:solidFill>
                  <a:srgbClr val="222F37"/>
                </a:solidFill>
                <a:latin typeface="Aptos"/>
              </a:rPr>
              <a:t>aussi</a:t>
            </a:r>
            <a:r>
              <a:rPr sz="2000" b="0" dirty="0">
                <a:solidFill>
                  <a:srgbClr val="222F37"/>
                </a:solidFill>
                <a:latin typeface="Aptos"/>
              </a:rPr>
              <a:t> les cases, </a:t>
            </a:r>
            <a:r>
              <a:rPr sz="2000" b="0" dirty="0" err="1">
                <a:solidFill>
                  <a:srgbClr val="222F37"/>
                </a:solidFill>
                <a:latin typeface="Aptos"/>
              </a:rPr>
              <a:t>puis</a:t>
            </a:r>
            <a:r>
              <a:rPr sz="2000" b="0" dirty="0">
                <a:solidFill>
                  <a:srgbClr val="222F37"/>
                </a:solidFill>
                <a:latin typeface="Aptos"/>
              </a:rPr>
              <a:t> les </a:t>
            </a:r>
            <a:r>
              <a:rPr sz="2000" b="0" dirty="0" err="1">
                <a:solidFill>
                  <a:srgbClr val="222F37"/>
                </a:solidFill>
                <a:latin typeface="Aptos"/>
              </a:rPr>
              <a:t>bulles</a:t>
            </a:r>
            <a:r>
              <a:rPr sz="2000" b="0" dirty="0">
                <a:solidFill>
                  <a:srgbClr val="222F37"/>
                </a:solidFill>
                <a:latin typeface="Aptos"/>
              </a:rPr>
              <a:t>, </a:t>
            </a:r>
            <a:r>
              <a:rPr sz="2000" b="0" dirty="0" err="1">
                <a:solidFill>
                  <a:srgbClr val="222F37"/>
                </a:solidFill>
                <a:latin typeface="Aptos"/>
              </a:rPr>
              <a:t>généralement</a:t>
            </a:r>
            <a:r>
              <a:rPr sz="2000" b="0" dirty="0">
                <a:solidFill>
                  <a:srgbClr val="222F37"/>
                </a:solidFill>
                <a:latin typeface="Aptos"/>
              </a:rPr>
              <a:t> de droite à gauche et de haut </a:t>
            </a:r>
            <a:r>
              <a:rPr sz="2000" b="0" dirty="0" err="1">
                <a:solidFill>
                  <a:srgbClr val="222F37"/>
                </a:solidFill>
                <a:latin typeface="Aptos"/>
              </a:rPr>
              <a:t>en</a:t>
            </a:r>
            <a:r>
              <a:rPr sz="2000" b="0" dirty="0">
                <a:solidFill>
                  <a:srgbClr val="222F37"/>
                </a:solidFill>
                <a:latin typeface="Aptos"/>
              </a:rPr>
              <a:t> bas. </a:t>
            </a:r>
            <a:r>
              <a:rPr sz="2000" b="0" dirty="0" err="1">
                <a:solidFill>
                  <a:srgbClr val="222F37"/>
                </a:solidFill>
                <a:latin typeface="Aptos"/>
              </a:rPr>
              <a:t>Certaines</a:t>
            </a:r>
            <a:r>
              <a:rPr sz="2000" b="0" dirty="0">
                <a:solidFill>
                  <a:srgbClr val="222F37"/>
                </a:solidFill>
                <a:latin typeface="Aptos"/>
              </a:rPr>
              <a:t> </a:t>
            </a:r>
            <a:r>
              <a:rPr sz="2000" b="0" dirty="0" err="1">
                <a:solidFill>
                  <a:srgbClr val="222F37"/>
                </a:solidFill>
                <a:latin typeface="Aptos"/>
              </a:rPr>
              <a:t>éditions</a:t>
            </a:r>
            <a:r>
              <a:rPr sz="2000" b="0" dirty="0">
                <a:solidFill>
                  <a:srgbClr val="222F37"/>
                </a:solidFill>
                <a:latin typeface="Aptos"/>
              </a:rPr>
              <a:t> </a:t>
            </a:r>
            <a:r>
              <a:rPr sz="2000" b="0" dirty="0" err="1">
                <a:solidFill>
                  <a:srgbClr val="222F37"/>
                </a:solidFill>
                <a:latin typeface="Aptos"/>
              </a:rPr>
              <a:t>adaptées</a:t>
            </a:r>
            <a:r>
              <a:rPr sz="2000" b="0" dirty="0">
                <a:solidFill>
                  <a:srgbClr val="222F37"/>
                </a:solidFill>
                <a:latin typeface="Aptos"/>
              </a:rPr>
              <a:t> </a:t>
            </a:r>
            <a:r>
              <a:rPr sz="2000" b="0" dirty="0" err="1">
                <a:solidFill>
                  <a:srgbClr val="222F37"/>
                </a:solidFill>
                <a:latin typeface="Aptos"/>
              </a:rPr>
              <a:t>peuvent</a:t>
            </a:r>
            <a:r>
              <a:rPr sz="2000" b="0" dirty="0">
                <a:solidFill>
                  <a:srgbClr val="222F37"/>
                </a:solidFill>
                <a:latin typeface="Aptos"/>
              </a:rPr>
              <a:t> se lire </a:t>
            </a:r>
            <a:r>
              <a:rPr sz="2000" b="0" dirty="0" err="1">
                <a:solidFill>
                  <a:srgbClr val="222F37"/>
                </a:solidFill>
                <a:latin typeface="Aptos"/>
              </a:rPr>
              <a:t>autrement</a:t>
            </a:r>
            <a:r>
              <a:rPr sz="2000" b="0" dirty="0">
                <a:solidFill>
                  <a:srgbClr val="222F37"/>
                </a:solidFill>
                <a:latin typeface="Aptos"/>
              </a:rPr>
              <a:t>.</a:t>
            </a:r>
          </a:p>
          <a:p>
            <a:pPr>
              <a:spcAft>
                <a:spcPts val="800"/>
              </a:spcAft>
            </a:pPr>
            <a:endParaRPr sz="2000" b="0" dirty="0">
              <a:solidFill>
                <a:srgbClr val="222F37"/>
              </a:solidFill>
              <a:latin typeface="Aptos"/>
            </a:endParaRPr>
          </a:p>
          <a:p>
            <a:pPr>
              <a:spcAft>
                <a:spcPts val="800"/>
              </a:spcAft>
            </a:pPr>
            <a:r>
              <a:rPr sz="2000" b="0" dirty="0">
                <a:solidFill>
                  <a:srgbClr val="222F37"/>
                </a:solidFill>
                <a:latin typeface="Aptos"/>
              </a:rPr>
              <a:t>Parmi les </a:t>
            </a:r>
            <a:r>
              <a:rPr sz="2000" b="0" dirty="0" err="1">
                <a:solidFill>
                  <a:srgbClr val="222F37"/>
                </a:solidFill>
                <a:latin typeface="Aptos"/>
              </a:rPr>
              <a:t>mangas</a:t>
            </a:r>
            <a:r>
              <a:rPr sz="2000" b="0" dirty="0">
                <a:solidFill>
                  <a:srgbClr val="222F37"/>
                </a:solidFill>
                <a:latin typeface="Aptos"/>
              </a:rPr>
              <a:t> célèbres : Dragon Ball (Son Goku), One Piece (</a:t>
            </a:r>
            <a:r>
              <a:rPr sz="2000" b="0" dirty="0" err="1">
                <a:solidFill>
                  <a:srgbClr val="222F37"/>
                </a:solidFill>
                <a:latin typeface="Aptos"/>
              </a:rPr>
              <a:t>Luffy</a:t>
            </a:r>
            <a:r>
              <a:rPr sz="2000" b="0" dirty="0">
                <a:solidFill>
                  <a:srgbClr val="222F37"/>
                </a:solidFill>
                <a:latin typeface="Aptos"/>
              </a:rPr>
              <a:t>), Naruto (un </a:t>
            </a:r>
            <a:r>
              <a:rPr sz="2000" b="0" dirty="0" err="1">
                <a:solidFill>
                  <a:srgbClr val="222F37"/>
                </a:solidFill>
                <a:latin typeface="Aptos"/>
              </a:rPr>
              <a:t>jeune</a:t>
            </a:r>
            <a:r>
              <a:rPr sz="2000" b="0" dirty="0">
                <a:solidFill>
                  <a:srgbClr val="222F37"/>
                </a:solidFill>
                <a:latin typeface="Aptos"/>
              </a:rPr>
              <a:t> ninja), </a:t>
            </a:r>
            <a:r>
              <a:rPr sz="2000" b="0" dirty="0" err="1">
                <a:solidFill>
                  <a:srgbClr val="222F37"/>
                </a:solidFill>
                <a:latin typeface="Aptos"/>
              </a:rPr>
              <a:t>mais</a:t>
            </a:r>
            <a:r>
              <a:rPr sz="2000" b="0" dirty="0">
                <a:solidFill>
                  <a:srgbClr val="222F37"/>
                </a:solidFill>
                <a:latin typeface="Aptos"/>
              </a:rPr>
              <a:t> </a:t>
            </a:r>
            <a:r>
              <a:rPr sz="2000" b="0" dirty="0" err="1">
                <a:solidFill>
                  <a:srgbClr val="222F37"/>
                </a:solidFill>
                <a:latin typeface="Aptos"/>
              </a:rPr>
              <a:t>aussi</a:t>
            </a:r>
            <a:r>
              <a:rPr sz="2000" b="0" dirty="0">
                <a:solidFill>
                  <a:srgbClr val="222F37"/>
                </a:solidFill>
                <a:latin typeface="Aptos"/>
              </a:rPr>
              <a:t> </a:t>
            </a:r>
            <a:r>
              <a:rPr sz="2000" b="0" dirty="0" err="1">
                <a:solidFill>
                  <a:srgbClr val="222F37"/>
                </a:solidFill>
                <a:latin typeface="Aptos"/>
              </a:rPr>
              <a:t>Détective</a:t>
            </a:r>
            <a:r>
              <a:rPr sz="2000" b="0" dirty="0">
                <a:solidFill>
                  <a:srgbClr val="222F37"/>
                </a:solidFill>
                <a:latin typeface="Aptos"/>
              </a:rPr>
              <a:t> Conan, Pokémon : La Grande </a:t>
            </a:r>
            <a:r>
              <a:rPr sz="2000" b="0" dirty="0" err="1">
                <a:solidFill>
                  <a:srgbClr val="222F37"/>
                </a:solidFill>
                <a:latin typeface="Aptos"/>
              </a:rPr>
              <a:t>Aventure</a:t>
            </a:r>
            <a:r>
              <a:rPr sz="2000" b="0" dirty="0">
                <a:solidFill>
                  <a:srgbClr val="222F37"/>
                </a:solidFill>
                <a:latin typeface="Aptos"/>
              </a:rPr>
              <a:t> et Doraemon. </a:t>
            </a:r>
            <a:r>
              <a:rPr sz="2000" b="0" dirty="0" err="1">
                <a:solidFill>
                  <a:srgbClr val="222F37"/>
                </a:solidFill>
                <a:latin typeface="Aptos"/>
              </a:rPr>
              <a:t>Leurs</a:t>
            </a:r>
            <a:r>
              <a:rPr sz="2000" b="0" dirty="0">
                <a:solidFill>
                  <a:srgbClr val="222F37"/>
                </a:solidFill>
                <a:latin typeface="Aptos"/>
              </a:rPr>
              <a:t> </a:t>
            </a:r>
            <a:r>
              <a:rPr sz="2000" b="0" dirty="0" err="1">
                <a:solidFill>
                  <a:srgbClr val="222F37"/>
                </a:solidFill>
                <a:latin typeface="Aptos"/>
              </a:rPr>
              <a:t>univers</a:t>
            </a:r>
            <a:r>
              <a:rPr sz="2000" b="0" dirty="0">
                <a:solidFill>
                  <a:srgbClr val="222F37"/>
                </a:solidFill>
                <a:latin typeface="Aptos"/>
              </a:rPr>
              <a:t> </a:t>
            </a:r>
            <a:r>
              <a:rPr sz="2000" b="0" dirty="0" err="1">
                <a:solidFill>
                  <a:srgbClr val="222F37"/>
                </a:solidFill>
                <a:latin typeface="Aptos"/>
              </a:rPr>
              <a:t>sont</a:t>
            </a:r>
            <a:r>
              <a:rPr sz="2000" b="0" dirty="0">
                <a:solidFill>
                  <a:srgbClr val="222F37"/>
                </a:solidFill>
                <a:latin typeface="Aptos"/>
              </a:rPr>
              <a:t> très </a:t>
            </a:r>
            <a:r>
              <a:rPr sz="2000" b="0" dirty="0" err="1">
                <a:solidFill>
                  <a:srgbClr val="222F37"/>
                </a:solidFill>
                <a:latin typeface="Aptos"/>
              </a:rPr>
              <a:t>différents</a:t>
            </a:r>
            <a:r>
              <a:rPr sz="2000" b="0" dirty="0">
                <a:solidFill>
                  <a:srgbClr val="222F37"/>
                </a:solidFill>
                <a:latin typeface="Aptos"/>
              </a:rPr>
              <a:t> : </a:t>
            </a:r>
            <a:r>
              <a:rPr sz="2000" b="0" dirty="0" err="1">
                <a:solidFill>
                  <a:srgbClr val="222F37"/>
                </a:solidFill>
                <a:latin typeface="Aptos"/>
              </a:rPr>
              <a:t>aventure</a:t>
            </a:r>
            <a:r>
              <a:rPr sz="2000" b="0" dirty="0">
                <a:solidFill>
                  <a:srgbClr val="222F37"/>
                </a:solidFill>
                <a:latin typeface="Aptos"/>
              </a:rPr>
              <a:t>, </a:t>
            </a:r>
            <a:r>
              <a:rPr sz="2000" b="0" dirty="0" err="1">
                <a:solidFill>
                  <a:srgbClr val="222F37"/>
                </a:solidFill>
                <a:latin typeface="Aptos"/>
              </a:rPr>
              <a:t>humour</a:t>
            </a:r>
            <a:r>
              <a:rPr sz="2000" b="0" dirty="0">
                <a:solidFill>
                  <a:srgbClr val="222F37"/>
                </a:solidFill>
                <a:latin typeface="Aptos"/>
              </a:rPr>
              <a:t>, </a:t>
            </a:r>
            <a:r>
              <a:rPr sz="2000" b="0" dirty="0" err="1">
                <a:solidFill>
                  <a:srgbClr val="222F37"/>
                </a:solidFill>
                <a:latin typeface="Aptos"/>
              </a:rPr>
              <a:t>enquête</a:t>
            </a:r>
            <a:r>
              <a:rPr sz="2000" b="0" dirty="0">
                <a:solidFill>
                  <a:srgbClr val="222F37"/>
                </a:solidFill>
                <a:latin typeface="Aptos"/>
              </a:rPr>
              <a:t> </a:t>
            </a:r>
            <a:r>
              <a:rPr sz="2000" b="0" dirty="0" err="1">
                <a:solidFill>
                  <a:srgbClr val="222F37"/>
                </a:solidFill>
                <a:latin typeface="Aptos"/>
              </a:rPr>
              <a:t>ou</a:t>
            </a:r>
            <a:r>
              <a:rPr sz="2000" b="0" dirty="0">
                <a:solidFill>
                  <a:srgbClr val="222F37"/>
                </a:solidFill>
                <a:latin typeface="Aptos"/>
              </a:rPr>
              <a:t> science-fiction.</a:t>
            </a:r>
          </a:p>
          <a:p>
            <a:pPr>
              <a:spcAft>
                <a:spcPts val="800"/>
              </a:spcAft>
            </a:pPr>
            <a:endParaRPr sz="2000" b="0" dirty="0">
              <a:solidFill>
                <a:srgbClr val="222F37"/>
              </a:solidFill>
              <a:latin typeface="Aptos"/>
            </a:endParaRPr>
          </a:p>
          <a:p>
            <a:pPr>
              <a:spcAft>
                <a:spcPts val="800"/>
              </a:spcAft>
            </a:pPr>
            <a:r>
              <a:rPr sz="2000" b="0" dirty="0">
                <a:solidFill>
                  <a:srgbClr val="222F37"/>
                </a:solidFill>
                <a:latin typeface="Aptos"/>
              </a:rPr>
              <a:t>Un manga </a:t>
            </a:r>
            <a:r>
              <a:rPr sz="2000" b="0" dirty="0" err="1">
                <a:solidFill>
                  <a:srgbClr val="222F37"/>
                </a:solidFill>
                <a:latin typeface="Aptos"/>
              </a:rPr>
              <a:t>est</a:t>
            </a:r>
            <a:r>
              <a:rPr sz="2000" b="0" dirty="0">
                <a:solidFill>
                  <a:srgbClr val="222F37"/>
                </a:solidFill>
                <a:latin typeface="Aptos"/>
              </a:rPr>
              <a:t> </a:t>
            </a:r>
            <a:r>
              <a:rPr sz="2000" b="0" dirty="0" err="1">
                <a:solidFill>
                  <a:srgbClr val="222F37"/>
                </a:solidFill>
                <a:latin typeface="Aptos"/>
              </a:rPr>
              <a:t>une</a:t>
            </a:r>
            <a:r>
              <a:rPr sz="2000" b="0" dirty="0">
                <a:solidFill>
                  <a:srgbClr val="222F37"/>
                </a:solidFill>
                <a:latin typeface="Aptos"/>
              </a:rPr>
              <a:t> BD à lire ; </a:t>
            </a:r>
            <a:r>
              <a:rPr sz="2000" b="0" dirty="0" err="1">
                <a:solidFill>
                  <a:srgbClr val="222F37"/>
                </a:solidFill>
                <a:latin typeface="Aptos"/>
              </a:rPr>
              <a:t>lorsqu’une</a:t>
            </a:r>
            <a:r>
              <a:rPr sz="2000" b="0" dirty="0">
                <a:solidFill>
                  <a:srgbClr val="222F37"/>
                </a:solidFill>
                <a:latin typeface="Aptos"/>
              </a:rPr>
              <a:t> </a:t>
            </a:r>
            <a:r>
              <a:rPr sz="2000" b="0" dirty="0" err="1">
                <a:solidFill>
                  <a:srgbClr val="222F37"/>
                </a:solidFill>
                <a:latin typeface="Aptos"/>
              </a:rPr>
              <a:t>histoire</a:t>
            </a:r>
            <a:r>
              <a:rPr sz="2000" b="0" dirty="0">
                <a:solidFill>
                  <a:srgbClr val="222F37"/>
                </a:solidFill>
                <a:latin typeface="Aptos"/>
              </a:rPr>
              <a:t> </a:t>
            </a:r>
            <a:r>
              <a:rPr sz="2000" b="0" dirty="0" err="1">
                <a:solidFill>
                  <a:srgbClr val="222F37"/>
                </a:solidFill>
                <a:latin typeface="Aptos"/>
              </a:rPr>
              <a:t>est</a:t>
            </a:r>
            <a:r>
              <a:rPr sz="2000" b="0" dirty="0">
                <a:solidFill>
                  <a:srgbClr val="222F37"/>
                </a:solidFill>
                <a:latin typeface="Aptos"/>
              </a:rPr>
              <a:t> </a:t>
            </a:r>
            <a:r>
              <a:rPr sz="2000" b="0" dirty="0" err="1">
                <a:solidFill>
                  <a:srgbClr val="222F37"/>
                </a:solidFill>
                <a:latin typeface="Aptos"/>
              </a:rPr>
              <a:t>adaptée</a:t>
            </a:r>
            <a:r>
              <a:rPr sz="2000" b="0" dirty="0">
                <a:solidFill>
                  <a:srgbClr val="222F37"/>
                </a:solidFill>
                <a:latin typeface="Aptos"/>
              </a:rPr>
              <a:t> </a:t>
            </a:r>
            <a:r>
              <a:rPr sz="2000" b="0" dirty="0" err="1">
                <a:solidFill>
                  <a:srgbClr val="222F37"/>
                </a:solidFill>
                <a:latin typeface="Aptos"/>
              </a:rPr>
              <a:t>en</a:t>
            </a:r>
            <a:r>
              <a:rPr sz="2000" b="0" dirty="0">
                <a:solidFill>
                  <a:srgbClr val="222F37"/>
                </a:solidFill>
                <a:latin typeface="Aptos"/>
              </a:rPr>
              <a:t> dessin </a:t>
            </a:r>
            <a:r>
              <a:rPr sz="2000" b="0" dirty="0" err="1">
                <a:solidFill>
                  <a:srgbClr val="222F37"/>
                </a:solidFill>
                <a:latin typeface="Aptos"/>
              </a:rPr>
              <a:t>animé</a:t>
            </a:r>
            <a:r>
              <a:rPr sz="2000" b="0" dirty="0">
                <a:solidFill>
                  <a:srgbClr val="222F37"/>
                </a:solidFill>
                <a:latin typeface="Aptos"/>
              </a:rPr>
              <a:t> </a:t>
            </a:r>
            <a:r>
              <a:rPr sz="2000" b="0" dirty="0" err="1">
                <a:solidFill>
                  <a:srgbClr val="222F37"/>
                </a:solidFill>
                <a:latin typeface="Aptos"/>
              </a:rPr>
              <a:t>japonais</a:t>
            </a:r>
            <a:r>
              <a:rPr sz="2000" b="0" dirty="0">
                <a:solidFill>
                  <a:srgbClr val="222F37"/>
                </a:solidFill>
                <a:latin typeface="Aptos"/>
              </a:rPr>
              <a:t>, on parle </a:t>
            </a:r>
            <a:r>
              <a:rPr sz="2000" b="0" dirty="0" err="1">
                <a:solidFill>
                  <a:srgbClr val="222F37"/>
                </a:solidFill>
                <a:latin typeface="Aptos"/>
              </a:rPr>
              <a:t>souvent</a:t>
            </a:r>
            <a:r>
              <a:rPr sz="2000" b="0" dirty="0">
                <a:solidFill>
                  <a:srgbClr val="222F37"/>
                </a:solidFill>
                <a:latin typeface="Aptos"/>
              </a:rPr>
              <a:t> </a:t>
            </a:r>
            <a:r>
              <a:rPr sz="2000" b="0" dirty="0" err="1">
                <a:solidFill>
                  <a:srgbClr val="222F37"/>
                </a:solidFill>
                <a:latin typeface="Aptos"/>
              </a:rPr>
              <a:t>d’anime</a:t>
            </a:r>
            <a:r>
              <a:rPr sz="2000" b="0" dirty="0">
                <a:solidFill>
                  <a:srgbClr val="222F37"/>
                </a:solidFill>
                <a:latin typeface="Aptos"/>
              </a:rPr>
              <a:t>.</a:t>
            </a:r>
          </a:p>
        </p:txBody>
      </p:sp>
      <p:sp>
        <p:nvSpPr>
          <p:cNvPr id="7" name="Rounded Rectangle 6"/>
          <p:cNvSpPr/>
          <p:nvPr/>
        </p:nvSpPr>
        <p:spPr>
          <a:xfrm>
            <a:off x="7845552" y="1389888"/>
            <a:ext cx="3703320" cy="4251960"/>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38160" y="1938528"/>
            <a:ext cx="3108960" cy="548640"/>
          </a:xfrm>
          <a:prstGeom prst="rect">
            <a:avLst/>
          </a:prstGeom>
          <a:noFill/>
        </p:spPr>
        <p:txBody>
          <a:bodyPr wrap="square" lIns="54864" rIns="54864" anchor="ctr">
            <a:spAutoFit/>
          </a:bodyPr>
          <a:lstStyle/>
          <a:p>
            <a:pPr>
              <a:spcAft>
                <a:spcPts val="800"/>
              </a:spcAft>
            </a:pPr>
            <a:r>
              <a:rPr sz="1800" b="1">
                <a:solidFill>
                  <a:srgbClr val="B53B37"/>
                </a:solidFill>
                <a:latin typeface="Aptos"/>
              </a:rPr>
              <a:t>PHOTO À INSÉRER</a:t>
            </a:r>
          </a:p>
        </p:txBody>
      </p:sp>
      <p:sp>
        <p:nvSpPr>
          <p:cNvPr id="9" name="TextBox 8"/>
          <p:cNvSpPr txBox="1"/>
          <p:nvPr/>
        </p:nvSpPr>
        <p:spPr>
          <a:xfrm>
            <a:off x="8138160" y="2596896"/>
            <a:ext cx="3063240" cy="2148840"/>
          </a:xfrm>
          <a:prstGeom prst="rect">
            <a:avLst/>
          </a:prstGeom>
          <a:noFill/>
        </p:spPr>
        <p:txBody>
          <a:bodyPr wrap="square" lIns="54864" rIns="54864" anchor="ctr">
            <a:spAutoFit/>
          </a:bodyPr>
          <a:lstStyle/>
          <a:p>
            <a:pPr>
              <a:spcAft>
                <a:spcPts val="800"/>
              </a:spcAft>
            </a:pPr>
            <a:r>
              <a:rPr sz="1900" b="0">
                <a:solidFill>
                  <a:srgbClr val="222F37"/>
                </a:solidFill>
                <a:latin typeface="Aptos"/>
              </a:rPr>
              <a:t>Photographie de couvertures de mangas en librairie, ou d’une page montrant le sens de lecture.</a:t>
            </a:r>
          </a:p>
        </p:txBody>
      </p:sp>
      <p:sp>
        <p:nvSpPr>
          <p:cNvPr id="10" name="TextBox 9"/>
          <p:cNvSpPr txBox="1"/>
          <p:nvPr/>
        </p:nvSpPr>
        <p:spPr>
          <a:xfrm>
            <a:off x="7882127" y="5806440"/>
            <a:ext cx="3566160" cy="411480"/>
          </a:xfrm>
          <a:prstGeom prst="rect">
            <a:avLst/>
          </a:prstGeom>
          <a:noFill/>
        </p:spPr>
        <p:txBody>
          <a:bodyPr wrap="square" lIns="54864" rIns="54864" anchor="ctr">
            <a:spAutoFit/>
          </a:bodyPr>
          <a:lstStyle/>
          <a:p>
            <a:pPr>
              <a:spcAft>
                <a:spcPts val="800"/>
              </a:spcAft>
            </a:pPr>
            <a:r>
              <a:rPr sz="1300" b="1">
                <a:solidFill>
                  <a:srgbClr val="346B89"/>
                </a:solidFill>
                <a:latin typeface="Aptos"/>
              </a:rPr>
              <a:t>BD JAPONAISE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LUNDI · LECTURE</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Pourquoi la terre tremble-t-elle au Japon ?</a:t>
            </a:r>
          </a:p>
        </p:txBody>
      </p:sp>
      <p:sp>
        <p:nvSpPr>
          <p:cNvPr id="4" name="TextBox 3"/>
          <p:cNvSpPr txBox="1"/>
          <p:nvPr/>
        </p:nvSpPr>
        <p:spPr>
          <a:xfrm>
            <a:off x="731520" y="1508760"/>
            <a:ext cx="10698480" cy="461772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La surface de la Terre est formée de grandes plaques rocheuses qui se déplacent très lentement. Le Japon se trouve près des limites de plusieurs plaques tectoniques. Leurs mouvements peuvent provoquer des séismes, parfois très puissants.</a:t>
            </a:r>
          </a:p>
          <a:p>
            <a:pPr algn="l">
              <a:spcAft>
                <a:spcPts val="700"/>
              </a:spcAft>
            </a:pPr>
            <a:endParaRPr sz="2100" b="0">
              <a:solidFill>
                <a:srgbClr val="1F2E34"/>
              </a:solidFill>
              <a:latin typeface="Aptos"/>
            </a:endParaRPr>
          </a:p>
          <a:p>
            <a:pPr algn="l">
              <a:spcAft>
                <a:spcPts val="700"/>
              </a:spcAft>
            </a:pPr>
            <a:r>
              <a:rPr sz="2100" b="0">
                <a:solidFill>
                  <a:srgbClr val="1F2E34"/>
                </a:solidFill>
                <a:latin typeface="Aptos"/>
              </a:rPr>
              <a:t>Le pays connaît aussi des volcans actifs. Un séisme sous la mer peut déplacer une grande quantité d’eau et provoquer un tsunami : une série de vagues qui peut atteindre les côtes.</a:t>
            </a:r>
          </a:p>
          <a:p>
            <a:pPr algn="l">
              <a:spcAft>
                <a:spcPts val="700"/>
              </a:spcAft>
            </a:pPr>
            <a:endParaRPr sz="2100" b="0">
              <a:solidFill>
                <a:srgbClr val="1F2E34"/>
              </a:solidFill>
              <a:latin typeface="Aptos"/>
            </a:endParaRPr>
          </a:p>
          <a:p>
            <a:pPr algn="l">
              <a:spcAft>
                <a:spcPts val="700"/>
              </a:spcAft>
            </a:pPr>
            <a:r>
              <a:rPr sz="2100" b="0">
                <a:solidFill>
                  <a:srgbClr val="1F2E34"/>
                </a:solidFill>
                <a:latin typeface="Aptos"/>
              </a:rPr>
              <a:t>Les habitants apprennent des gestes de protection et les bâtiments sont conçus pour mieux résister aux secousses.</a:t>
            </a:r>
          </a:p>
        </p:txBody>
      </p:sp>
      <p:sp>
        <p:nvSpPr>
          <p:cNvPr id="5" name="TextBox 4"/>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LUNDI 21 SEPTEMBRE 2026</a:t>
            </a:r>
          </a:p>
        </p:txBody>
      </p:sp>
      <p:sp>
        <p:nvSpPr>
          <p:cNvPr id="8" name="TextBox 7"/>
          <p:cNvSpPr txBox="1"/>
          <p:nvPr/>
        </p:nvSpPr>
        <p:spPr>
          <a:xfrm>
            <a:off x="10351008" y="491032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9" name="Rounded Rectangle 8"/>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Carte des plaques tectoniques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01168"/>
            <a:ext cx="11002975" cy="347472"/>
          </a:xfrm>
          <a:prstGeom prst="rect">
            <a:avLst/>
          </a:prstGeom>
          <a:noFill/>
        </p:spPr>
        <p:txBody>
          <a:bodyPr wrap="square" anchor="ctr">
            <a:spAutoFit/>
          </a:bodyPr>
          <a:lstStyle/>
          <a:p>
            <a:pPr algn="l"/>
            <a:r>
              <a:rPr sz="1600" b="1">
                <a:solidFill>
                  <a:srgbClr val="346B89"/>
                </a:solidFill>
                <a:latin typeface="Aptos"/>
              </a:rPr>
              <a:t>LUNDI 21 SEPTEMBRE 2026</a:t>
            </a:r>
          </a:p>
        </p:txBody>
      </p:sp>
      <p:sp>
        <p:nvSpPr>
          <p:cNvPr id="4" name="TextBox 3"/>
          <p:cNvSpPr txBox="1"/>
          <p:nvPr/>
        </p:nvSpPr>
        <p:spPr>
          <a:xfrm>
            <a:off x="640080" y="713232"/>
            <a:ext cx="10911535" cy="685800"/>
          </a:xfrm>
          <a:prstGeom prst="rect">
            <a:avLst/>
          </a:prstGeom>
          <a:noFill/>
        </p:spPr>
        <p:txBody>
          <a:bodyPr wrap="square" anchor="ctr">
            <a:spAutoFit/>
          </a:bodyPr>
          <a:lstStyle/>
          <a:p>
            <a:pPr algn="l"/>
            <a:r>
              <a:rPr sz="3000" b="1">
                <a:solidFill>
                  <a:srgbClr val="222F37"/>
                </a:solidFill>
                <a:latin typeface="Aptos"/>
              </a:rPr>
              <a:t>À copier dans le cahier du jour</a:t>
            </a:r>
          </a:p>
        </p:txBody>
      </p:sp>
      <p:sp>
        <p:nvSpPr>
          <p:cNvPr id="5" name="TextBox 4"/>
          <p:cNvSpPr txBox="1"/>
          <p:nvPr/>
        </p:nvSpPr>
        <p:spPr>
          <a:xfrm>
            <a:off x="777240" y="1910759"/>
            <a:ext cx="10637215" cy="384721"/>
          </a:xfrm>
          <a:prstGeom prst="rect">
            <a:avLst/>
          </a:prstGeom>
          <a:noFill/>
        </p:spPr>
        <p:txBody>
          <a:bodyPr wrap="square" anchor="ctr">
            <a:spAutoFit/>
          </a:bodyPr>
          <a:lstStyle/>
          <a:p>
            <a:pPr algn="l"/>
            <a:r>
              <a:rPr sz="1900" b="1" dirty="0">
                <a:solidFill>
                  <a:srgbClr val="346B89"/>
                </a:solidFill>
                <a:latin typeface="Aptos"/>
              </a:rPr>
              <a:t> Destination de la </a:t>
            </a:r>
            <a:r>
              <a:rPr sz="1900" b="1" dirty="0" err="1">
                <a:solidFill>
                  <a:srgbClr val="346B89"/>
                </a:solidFill>
                <a:latin typeface="Aptos"/>
              </a:rPr>
              <a:t>semaine</a:t>
            </a:r>
            <a:r>
              <a:rPr sz="1900" b="1" dirty="0">
                <a:solidFill>
                  <a:srgbClr val="346B89"/>
                </a:solidFill>
                <a:latin typeface="Aptos"/>
              </a:rPr>
              <a:t> : le </a:t>
            </a:r>
            <a:r>
              <a:rPr sz="1900" b="1" dirty="0" err="1">
                <a:solidFill>
                  <a:srgbClr val="346B89"/>
                </a:solidFill>
                <a:latin typeface="Aptos"/>
              </a:rPr>
              <a:t>Japon</a:t>
            </a:r>
            <a:r>
              <a:rPr sz="1900" b="1" dirty="0">
                <a:solidFill>
                  <a:srgbClr val="346B89"/>
                </a:solidFill>
                <a:latin typeface="Aptos"/>
              </a:rPr>
              <a:t> </a:t>
            </a:r>
          </a:p>
        </p:txBody>
      </p:sp>
      <p:sp>
        <p:nvSpPr>
          <p:cNvPr id="6" name="TextBox 5"/>
          <p:cNvSpPr txBox="1"/>
          <p:nvPr/>
        </p:nvSpPr>
        <p:spPr>
          <a:xfrm>
            <a:off x="822960" y="2743200"/>
            <a:ext cx="10545775" cy="1874519"/>
          </a:xfrm>
          <a:prstGeom prst="rect">
            <a:avLst/>
          </a:prstGeom>
          <a:noFill/>
        </p:spPr>
        <p:txBody>
          <a:bodyPr wrap="square" anchor="ctr">
            <a:spAutoFit/>
          </a:bodyPr>
          <a:lstStyle/>
          <a:p>
            <a:pPr algn="l"/>
            <a:r>
              <a:rPr sz="2600" b="0">
                <a:solidFill>
                  <a:srgbClr val="222F37"/>
                </a:solidFill>
                <a:latin typeface="Aptos"/>
              </a:rPr>
              <a:t>Le Japon est un archipel situé en Asie de l’Est, dans l’océan Pacifique. Il connaît de nombreux séismes car il se trouve près de limites de plaques tectoniques.</a:t>
            </a:r>
          </a:p>
        </p:txBody>
      </p:sp>
      <p:sp>
        <p:nvSpPr>
          <p:cNvPr id="7" name="Rounded Rectangle 6"/>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Paysage japonais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201168"/>
            <a:ext cx="11003280" cy="338328"/>
          </a:xfrm>
          <a:prstGeom prst="rect">
            <a:avLst/>
          </a:prstGeom>
          <a:noFill/>
        </p:spPr>
        <p:txBody>
          <a:bodyPr wrap="square" anchor="ctr">
            <a:spAutoFit/>
          </a:bodyPr>
          <a:lstStyle/>
          <a:p>
            <a:pPr algn="l"/>
            <a:r>
              <a:rPr sz="1500" b="1">
                <a:solidFill>
                  <a:srgbClr val="346B89"/>
                </a:solidFill>
                <a:latin typeface="Aptos"/>
              </a:rPr>
              <a:t>MARDI 22 SEPTEMBRE 2026</a:t>
            </a:r>
          </a:p>
        </p:txBody>
      </p:sp>
      <p:sp>
        <p:nvSpPr>
          <p:cNvPr id="3" name="TextBox 2"/>
          <p:cNvSpPr txBox="1"/>
          <p:nvPr/>
        </p:nvSpPr>
        <p:spPr>
          <a:xfrm>
            <a:off x="640080" y="694944"/>
            <a:ext cx="10911840" cy="676656"/>
          </a:xfrm>
          <a:prstGeom prst="rect">
            <a:avLst/>
          </a:prstGeom>
          <a:noFill/>
        </p:spPr>
        <p:txBody>
          <a:bodyPr wrap="square" anchor="ctr">
            <a:spAutoFit/>
          </a:bodyPr>
          <a:lstStyle/>
          <a:p>
            <a:pPr algn="l"/>
            <a:r>
              <a:rPr sz="2900" b="1">
                <a:solidFill>
                  <a:srgbClr val="25333C"/>
                </a:solidFill>
                <a:latin typeface="Aptos"/>
              </a:rPr>
              <a:t>L’étonnant · À toi de formuler une hypothèse</a:t>
            </a:r>
          </a:p>
        </p:txBody>
      </p:sp>
      <p:sp>
        <p:nvSpPr>
          <p:cNvPr id="4" name="TextBox 3"/>
          <p:cNvSpPr txBox="1"/>
          <p:nvPr/>
        </p:nvSpPr>
        <p:spPr>
          <a:xfrm>
            <a:off x="731520" y="1554480"/>
            <a:ext cx="10728960" cy="1051560"/>
          </a:xfrm>
          <a:prstGeom prst="rect">
            <a:avLst/>
          </a:prstGeom>
          <a:noFill/>
        </p:spPr>
        <p:txBody>
          <a:bodyPr wrap="square" anchor="ctr">
            <a:spAutoFit/>
          </a:bodyPr>
          <a:lstStyle/>
          <a:p>
            <a:pPr algn="l"/>
            <a:r>
              <a:rPr sz="2400" b="1">
                <a:solidFill>
                  <a:srgbClr val="25333C"/>
                </a:solidFill>
                <a:latin typeface="Aptos"/>
              </a:rPr>
              <a:t>Comment un téléphone au Japon peut-il parfois prévenir d’un séisme quelques secondes avant que le sol ne tremble à cet endroit ?</a:t>
            </a:r>
          </a:p>
        </p:txBody>
      </p:sp>
      <p:sp>
        <p:nvSpPr>
          <p:cNvPr id="5" name="Rounded Rectangle 4"/>
          <p:cNvSpPr/>
          <p:nvPr/>
        </p:nvSpPr>
        <p:spPr>
          <a:xfrm>
            <a:off x="731520" y="2743200"/>
            <a:ext cx="10728960" cy="612648"/>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775204"/>
            <a:ext cx="10317480" cy="548640"/>
          </a:xfrm>
          <a:prstGeom prst="rect">
            <a:avLst/>
          </a:prstGeom>
          <a:noFill/>
        </p:spPr>
        <p:txBody>
          <a:bodyPr wrap="square" anchor="ctr">
            <a:spAutoFit/>
          </a:bodyPr>
          <a:lstStyle/>
          <a:p>
            <a:pPr algn="l"/>
            <a:r>
              <a:rPr sz="1700" b="0">
                <a:solidFill>
                  <a:srgbClr val="25333C"/>
                </a:solidFill>
                <a:latin typeface="Aptos"/>
              </a:rPr>
              <a:t>A · Des satellites voient les plaques tectoniques bouger juste avant la secousse.</a:t>
            </a:r>
          </a:p>
        </p:txBody>
      </p:sp>
      <p:sp>
        <p:nvSpPr>
          <p:cNvPr id="7" name="Rounded Rectangle 6"/>
          <p:cNvSpPr/>
          <p:nvPr/>
        </p:nvSpPr>
        <p:spPr>
          <a:xfrm>
            <a:off x="731520" y="3438144"/>
            <a:ext cx="10728960" cy="612648"/>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3470148"/>
            <a:ext cx="10317480" cy="548640"/>
          </a:xfrm>
          <a:prstGeom prst="rect">
            <a:avLst/>
          </a:prstGeom>
          <a:noFill/>
        </p:spPr>
        <p:txBody>
          <a:bodyPr wrap="square" anchor="ctr">
            <a:spAutoFit/>
          </a:bodyPr>
          <a:lstStyle/>
          <a:p>
            <a:pPr algn="l"/>
            <a:r>
              <a:rPr sz="1700" b="0">
                <a:solidFill>
                  <a:srgbClr val="25333C"/>
                </a:solidFill>
                <a:latin typeface="Aptos"/>
              </a:rPr>
              <a:t>B · Des capteurs détectent les premières ondes du séisme ; l’alerte électronique peut arriver avant les secousses les plus fortes.</a:t>
            </a:r>
          </a:p>
        </p:txBody>
      </p:sp>
      <p:sp>
        <p:nvSpPr>
          <p:cNvPr id="9" name="Rounded Rectangle 8"/>
          <p:cNvSpPr/>
          <p:nvPr/>
        </p:nvSpPr>
        <p:spPr>
          <a:xfrm>
            <a:off x="731520" y="4133087"/>
            <a:ext cx="10728960" cy="612648"/>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4165091"/>
            <a:ext cx="10317480" cy="548640"/>
          </a:xfrm>
          <a:prstGeom prst="rect">
            <a:avLst/>
          </a:prstGeom>
          <a:noFill/>
        </p:spPr>
        <p:txBody>
          <a:bodyPr wrap="square" anchor="ctr">
            <a:spAutoFit/>
          </a:bodyPr>
          <a:lstStyle/>
          <a:p>
            <a:pPr algn="l"/>
            <a:r>
              <a:rPr sz="1700" b="0">
                <a:solidFill>
                  <a:srgbClr val="25333C"/>
                </a:solidFill>
                <a:latin typeface="Aptos"/>
              </a:rPr>
              <a:t>C · Des scientifiques connaissent à l’avance l’heure exacte de chaque séisme.</a:t>
            </a:r>
          </a:p>
        </p:txBody>
      </p:sp>
      <p:sp>
        <p:nvSpPr>
          <p:cNvPr id="11" name="Rounded Rectangle 10"/>
          <p:cNvSpPr/>
          <p:nvPr/>
        </p:nvSpPr>
        <p:spPr>
          <a:xfrm>
            <a:off x="731520" y="4828032"/>
            <a:ext cx="10728960" cy="612648"/>
          </a:xfrm>
          <a:prstGeom prst="roundRect">
            <a:avLst/>
          </a:prstGeom>
          <a:solidFill>
            <a:srgbClr val="EBE4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860036"/>
            <a:ext cx="10317480" cy="548640"/>
          </a:xfrm>
          <a:prstGeom prst="rect">
            <a:avLst/>
          </a:prstGeom>
          <a:noFill/>
        </p:spPr>
        <p:txBody>
          <a:bodyPr wrap="square" anchor="ctr">
            <a:spAutoFit/>
          </a:bodyPr>
          <a:lstStyle/>
          <a:p>
            <a:pPr algn="l"/>
            <a:r>
              <a:rPr sz="1700" b="0">
                <a:solidFill>
                  <a:srgbClr val="25333C"/>
                </a:solidFill>
                <a:latin typeface="Aptos"/>
              </a:rPr>
              <a:t>D · Des chats entraînés miaulent dans un micro pour prévenir tous les téléphones.</a:t>
            </a:r>
          </a:p>
        </p:txBody>
      </p:sp>
      <p:sp>
        <p:nvSpPr>
          <p:cNvPr id="13" name="TextBox 12"/>
          <p:cNvSpPr txBox="1"/>
          <p:nvPr/>
        </p:nvSpPr>
        <p:spPr>
          <a:xfrm>
            <a:off x="777240" y="5733288"/>
            <a:ext cx="10637520" cy="384048"/>
          </a:xfrm>
          <a:prstGeom prst="rect">
            <a:avLst/>
          </a:prstGeom>
          <a:noFill/>
        </p:spPr>
        <p:txBody>
          <a:bodyPr wrap="square" anchor="ctr">
            <a:spAutoFit/>
          </a:bodyPr>
          <a:lstStyle/>
          <a:p>
            <a:pPr algn="l"/>
            <a:r>
              <a:rPr sz="1600" b="1">
                <a:solidFill>
                  <a:srgbClr val="346B89"/>
                </a:solidFill>
                <a:latin typeface="Aptos"/>
              </a:rPr>
              <a:t>Choisis une hypothèse et justifie-la oralement.</a:t>
            </a:r>
          </a:p>
        </p:txBody>
      </p:sp>
      <p:sp>
        <p:nvSpPr>
          <p:cNvPr id="14" name="Rounded Rectangle 13"/>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Alerte sismique sur téléphone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EF"/>
        </a:solidFill>
        <a:effectLst/>
      </p:bgPr>
    </p:bg>
    <p:spTree>
      <p:nvGrpSpPr>
        <p:cNvPr id="1" name=""/>
        <p:cNvGrpSpPr/>
        <p:nvPr/>
      </p:nvGrpSpPr>
      <p:grpSpPr/>
      <p:sp>
        <p:nvSpPr>
          <p:cNvPr id="2" name="TextBox 1"/>
          <p:cNvSpPr txBox="1"/>
          <p:nvPr/>
        </p:nvSpPr>
        <p:spPr>
          <a:xfrm>
            <a:off x="594360" y="201168"/>
            <a:ext cx="11003280" cy="338328"/>
          </a:xfrm>
          <a:prstGeom prst="rect">
            <a:avLst/>
          </a:prstGeom>
          <a:noFill/>
        </p:spPr>
        <p:txBody>
          <a:bodyPr wrap="square" anchor="ctr">
            <a:spAutoFit/>
          </a:bodyPr>
          <a:lstStyle/>
          <a:p>
            <a:pPr algn="l"/>
            <a:r>
              <a:rPr sz="1500" b="1">
                <a:solidFill>
                  <a:srgbClr val="346B89"/>
                </a:solidFill>
                <a:latin typeface="Aptos"/>
              </a:rPr>
              <a:t>MARDI 22 SEPTEMBRE 2026</a:t>
            </a:r>
          </a:p>
        </p:txBody>
      </p:sp>
      <p:sp>
        <p:nvSpPr>
          <p:cNvPr id="3" name="TextBox 2"/>
          <p:cNvSpPr txBox="1"/>
          <p:nvPr/>
        </p:nvSpPr>
        <p:spPr>
          <a:xfrm>
            <a:off x="640080" y="694944"/>
            <a:ext cx="10911840" cy="676656"/>
          </a:xfrm>
          <a:prstGeom prst="rect">
            <a:avLst/>
          </a:prstGeom>
          <a:noFill/>
        </p:spPr>
        <p:txBody>
          <a:bodyPr wrap="square" anchor="ctr">
            <a:spAutoFit/>
          </a:bodyPr>
          <a:lstStyle/>
          <a:p>
            <a:pPr algn="l"/>
            <a:r>
              <a:rPr sz="2900" b="1">
                <a:solidFill>
                  <a:srgbClr val="25333C"/>
                </a:solidFill>
                <a:latin typeface="Aptos"/>
              </a:rPr>
              <a:t>L’étonnant · Explication</a:t>
            </a:r>
          </a:p>
        </p:txBody>
      </p:sp>
      <p:sp>
        <p:nvSpPr>
          <p:cNvPr id="4" name="TextBox 3"/>
          <p:cNvSpPr txBox="1"/>
          <p:nvPr/>
        </p:nvSpPr>
        <p:spPr>
          <a:xfrm>
            <a:off x="731520" y="1645920"/>
            <a:ext cx="10728960" cy="640080"/>
          </a:xfrm>
          <a:prstGeom prst="rect">
            <a:avLst/>
          </a:prstGeom>
          <a:noFill/>
        </p:spPr>
        <p:txBody>
          <a:bodyPr wrap="square" anchor="ctr">
            <a:spAutoFit/>
          </a:bodyPr>
          <a:lstStyle/>
          <a:p>
            <a:pPr algn="l"/>
            <a:r>
              <a:rPr sz="3200" b="1">
                <a:solidFill>
                  <a:srgbClr val="B53B37"/>
                </a:solidFill>
                <a:latin typeface="Aptos"/>
              </a:rPr>
              <a:t>Réponse B</a:t>
            </a:r>
          </a:p>
        </p:txBody>
      </p:sp>
      <p:sp>
        <p:nvSpPr>
          <p:cNvPr id="5" name="TextBox 4"/>
          <p:cNvSpPr txBox="1"/>
          <p:nvPr/>
        </p:nvSpPr>
        <p:spPr>
          <a:xfrm>
            <a:off x="777240" y="2468880"/>
            <a:ext cx="10637520" cy="1965960"/>
          </a:xfrm>
          <a:prstGeom prst="rect">
            <a:avLst/>
          </a:prstGeom>
          <a:noFill/>
        </p:spPr>
        <p:txBody>
          <a:bodyPr wrap="square" anchor="ctr">
            <a:spAutoFit/>
          </a:bodyPr>
          <a:lstStyle/>
          <a:p>
            <a:pPr algn="l"/>
            <a:r>
              <a:rPr sz="2400" b="0">
                <a:solidFill>
                  <a:srgbClr val="25333C"/>
                </a:solidFill>
                <a:latin typeface="Aptos"/>
              </a:rPr>
              <a:t>Le séisme a déjà commencé lorsque les capteurs détectent ses premières ondes. Un message électronique peut circuler plus vite que les ondes sismiques les plus destructrices : certains habitants reçoivent alors une alerte avant les fortes secousses.</a:t>
            </a:r>
          </a:p>
        </p:txBody>
      </p:sp>
      <p:sp>
        <p:nvSpPr>
          <p:cNvPr id="6" name="TextBox 5"/>
          <p:cNvSpPr txBox="1"/>
          <p:nvPr/>
        </p:nvSpPr>
        <p:spPr>
          <a:xfrm>
            <a:off x="777240" y="4782312"/>
            <a:ext cx="10637520" cy="914400"/>
          </a:xfrm>
          <a:prstGeom prst="rect">
            <a:avLst/>
          </a:prstGeom>
          <a:noFill/>
        </p:spPr>
        <p:txBody>
          <a:bodyPr wrap="square" anchor="ctr">
            <a:spAutoFit/>
          </a:bodyPr>
          <a:lstStyle/>
          <a:p>
            <a:pPr algn="l"/>
            <a:r>
              <a:rPr sz="2000" b="1">
                <a:solidFill>
                  <a:srgbClr val="346B89"/>
                </a:solidFill>
                <a:latin typeface="Aptos"/>
              </a:rPr>
              <a:t>Attention : près de l’épicentre, l’alerte peut arriver trop tard. Ce système ne prédit pas les séismes.</a:t>
            </a:r>
          </a:p>
        </p:txBody>
      </p:sp>
      <p:sp>
        <p:nvSpPr>
          <p:cNvPr id="7" name="Rounded Rectangle 6"/>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Système d’alerte sismique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L’ÉTONNANT · 1/10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ou faux ?</a:t>
            </a:r>
          </a:p>
        </p:txBody>
      </p:sp>
      <p:sp>
        <p:nvSpPr>
          <p:cNvPr id="4" name="TextBox 3"/>
          <p:cNvSpPr txBox="1"/>
          <p:nvPr/>
        </p:nvSpPr>
        <p:spPr>
          <a:xfrm>
            <a:off x="822960" y="1737360"/>
            <a:ext cx="10515600" cy="1828800"/>
          </a:xfrm>
          <a:prstGeom prst="rect">
            <a:avLst/>
          </a:prstGeom>
          <a:solidFill>
            <a:srgbClr val="EAEFE9"/>
          </a:solidFill>
          <a:ln>
            <a:noFill/>
          </a:ln>
        </p:spPr>
        <p:txBody>
          <a:bodyPr wrap="square" lIns="137160" rIns="137160" anchor="ctr">
            <a:spAutoFit/>
          </a:bodyPr>
          <a:lstStyle/>
          <a:p>
            <a:pPr algn="ctr">
              <a:spcAft>
                <a:spcPts val="700"/>
              </a:spcAft>
            </a:pPr>
            <a:r>
              <a:rPr sz="3000" b="1">
                <a:solidFill>
                  <a:srgbClr val="1F2E34"/>
                </a:solidFill>
                <a:latin typeface="Aptos"/>
              </a:rPr>
              <a:t>Au Japon, les élèves s’entraînent à réagir en cas de séisme.</a:t>
            </a:r>
          </a:p>
        </p:txBody>
      </p:sp>
      <p:sp>
        <p:nvSpPr>
          <p:cNvPr id="5" name="TextBox 4"/>
          <p:cNvSpPr txBox="1"/>
          <p:nvPr/>
        </p:nvSpPr>
        <p:spPr>
          <a:xfrm>
            <a:off x="1097280" y="4114800"/>
            <a:ext cx="9966960" cy="685800"/>
          </a:xfrm>
          <a:prstGeom prst="rect">
            <a:avLst/>
          </a:prstGeom>
          <a:noFill/>
        </p:spPr>
        <p:txBody>
          <a:bodyPr wrap="square" lIns="137160" rIns="137160" anchor="ctr">
            <a:spAutoFit/>
          </a:bodyPr>
          <a:lstStyle/>
          <a:p>
            <a:pPr algn="ctr">
              <a:spcAft>
                <a:spcPts val="700"/>
              </a:spcAft>
            </a:pPr>
            <a:r>
              <a:rPr sz="2900" b="1">
                <a:solidFill>
                  <a:srgbClr val="1A606A"/>
                </a:solidFill>
                <a:latin typeface="Aptos"/>
              </a:rPr>
              <a:t>VRAI                         FAUX</a:t>
            </a:r>
          </a:p>
        </p:txBody>
      </p:sp>
      <p:sp>
        <p:nvSpPr>
          <p:cNvPr id="6" name="TextBox 5"/>
          <p:cNvSpPr txBox="1"/>
          <p:nvPr/>
        </p:nvSpPr>
        <p:spPr>
          <a:xfrm>
            <a:off x="1005840" y="5349240"/>
            <a:ext cx="10149840" cy="502920"/>
          </a:xfrm>
          <a:prstGeom prst="rect">
            <a:avLst/>
          </a:prstGeom>
          <a:noFill/>
        </p:spPr>
        <p:txBody>
          <a:bodyPr wrap="square" lIns="137160" rIns="137160" anchor="ctr">
            <a:spAutoFit/>
          </a:bodyPr>
          <a:lstStyle/>
          <a:p>
            <a:pPr algn="ctr">
              <a:spcAft>
                <a:spcPts val="700"/>
              </a:spcAft>
            </a:pPr>
            <a:r>
              <a:rPr sz="1900" b="0">
                <a:solidFill>
                  <a:srgbClr val="C46941"/>
                </a:solidFill>
                <a:latin typeface="Aptos"/>
              </a:rPr>
              <a:t>Choisis, puis justifie ta réponse.</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École japonaise · exercice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RÉPONSE · 1/10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a:t>
            </a:r>
          </a:p>
        </p:txBody>
      </p:sp>
      <p:sp>
        <p:nvSpPr>
          <p:cNvPr id="4" name="TextBox 3"/>
          <p:cNvSpPr txBox="1"/>
          <p:nvPr/>
        </p:nvSpPr>
        <p:spPr>
          <a:xfrm>
            <a:off x="822960" y="1645920"/>
            <a:ext cx="10515600" cy="2560320"/>
          </a:xfrm>
          <a:prstGeom prst="rect">
            <a:avLst/>
          </a:prstGeom>
          <a:solidFill>
            <a:srgbClr val="EAEFE9"/>
          </a:solidFill>
          <a:ln>
            <a:noFill/>
          </a:ln>
        </p:spPr>
        <p:txBody>
          <a:bodyPr wrap="square" lIns="137160" rIns="137160" anchor="ctr">
            <a:spAutoFit/>
          </a:bodyPr>
          <a:lstStyle/>
          <a:p>
            <a:pPr algn="l">
              <a:spcAft>
                <a:spcPts val="700"/>
              </a:spcAft>
            </a:pPr>
            <a:r>
              <a:rPr sz="2500" b="0">
                <a:solidFill>
                  <a:srgbClr val="1F2E34"/>
                </a:solidFill>
                <a:latin typeface="Aptos"/>
              </a:rPr>
              <a:t>Dans les écoles japonaises, des exercices de prévention apprennent aux élèves à se protéger et à évacuer si nécessaire.</a:t>
            </a:r>
          </a:p>
        </p:txBody>
      </p:sp>
      <p:sp>
        <p:nvSpPr>
          <p:cNvPr id="5" name="TextBox 4"/>
          <p:cNvSpPr txBox="1"/>
          <p:nvPr/>
        </p:nvSpPr>
        <p:spPr>
          <a:xfrm>
            <a:off x="822960" y="4663440"/>
            <a:ext cx="10515600" cy="411480"/>
          </a:xfrm>
          <a:prstGeom prst="rect">
            <a:avLst/>
          </a:prstGeom>
          <a:noFill/>
        </p:spPr>
        <p:txBody>
          <a:bodyPr wrap="square" lIns="137160" rIns="137160" anchor="ctr">
            <a:spAutoFit/>
          </a:bodyPr>
          <a:lstStyle/>
          <a:p>
            <a:pPr algn="l">
              <a:spcAft>
                <a:spcPts val="700"/>
              </a:spcAft>
            </a:pPr>
            <a:r>
              <a:rPr sz="1700" b="1">
                <a:solidFill>
                  <a:srgbClr val="1A606A"/>
                </a:solidFill>
                <a:latin typeface="Aptos"/>
              </a:rPr>
              <a:t>À SAVOIR</a:t>
            </a:r>
          </a:p>
        </p:txBody>
      </p:sp>
      <p:sp>
        <p:nvSpPr>
          <p:cNvPr id="6" name="TextBox 5"/>
          <p:cNvSpPr txBox="1"/>
          <p:nvPr/>
        </p:nvSpPr>
        <p:spPr>
          <a:xfrm>
            <a:off x="822960" y="5120640"/>
            <a:ext cx="10515600" cy="914400"/>
          </a:xfrm>
          <a:prstGeom prst="rect">
            <a:avLst/>
          </a:prstGeom>
          <a:noFill/>
        </p:spPr>
        <p:txBody>
          <a:bodyPr wrap="square" lIns="137160" rIns="137160" anchor="ctr">
            <a:spAutoFit/>
          </a:bodyPr>
          <a:lstStyle/>
          <a:p>
            <a:pPr algn="l">
              <a:spcAft>
                <a:spcPts val="700"/>
              </a:spcAft>
            </a:pPr>
            <a:r>
              <a:rPr sz="2000" b="1">
                <a:solidFill>
                  <a:srgbClr val="1F2E34"/>
                </a:solidFill>
                <a:latin typeface="Aptos"/>
              </a:rPr>
              <a:t>On peut s’entraîner à se protéger avant qu’une catastrophe ne survienne.</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Exercice de protection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L’ÉTONNANT · 2/10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ou faux ?</a:t>
            </a:r>
          </a:p>
        </p:txBody>
      </p:sp>
      <p:sp>
        <p:nvSpPr>
          <p:cNvPr id="4" name="TextBox 3"/>
          <p:cNvSpPr txBox="1"/>
          <p:nvPr/>
        </p:nvSpPr>
        <p:spPr>
          <a:xfrm>
            <a:off x="822960" y="1737360"/>
            <a:ext cx="10515600" cy="1828800"/>
          </a:xfrm>
          <a:prstGeom prst="rect">
            <a:avLst/>
          </a:prstGeom>
          <a:solidFill>
            <a:srgbClr val="EAEFE9"/>
          </a:solidFill>
          <a:ln>
            <a:noFill/>
          </a:ln>
        </p:spPr>
        <p:txBody>
          <a:bodyPr wrap="square" lIns="137160" rIns="137160" anchor="ctr">
            <a:spAutoFit/>
          </a:bodyPr>
          <a:lstStyle/>
          <a:p>
            <a:pPr algn="ctr">
              <a:spcAft>
                <a:spcPts val="700"/>
              </a:spcAft>
            </a:pPr>
            <a:r>
              <a:rPr sz="3000" b="1">
                <a:solidFill>
                  <a:srgbClr val="1F2E34"/>
                </a:solidFill>
                <a:latin typeface="Aptos"/>
              </a:rPr>
              <a:t>Un tsunami est toujours provoqué par un très grand vent.</a:t>
            </a:r>
          </a:p>
        </p:txBody>
      </p:sp>
      <p:sp>
        <p:nvSpPr>
          <p:cNvPr id="5" name="TextBox 4"/>
          <p:cNvSpPr txBox="1"/>
          <p:nvPr/>
        </p:nvSpPr>
        <p:spPr>
          <a:xfrm>
            <a:off x="1097280" y="4114800"/>
            <a:ext cx="9966960" cy="685800"/>
          </a:xfrm>
          <a:prstGeom prst="rect">
            <a:avLst/>
          </a:prstGeom>
          <a:noFill/>
        </p:spPr>
        <p:txBody>
          <a:bodyPr wrap="square" lIns="137160" rIns="137160" anchor="ctr">
            <a:spAutoFit/>
          </a:bodyPr>
          <a:lstStyle/>
          <a:p>
            <a:pPr algn="ctr">
              <a:spcAft>
                <a:spcPts val="700"/>
              </a:spcAft>
            </a:pPr>
            <a:r>
              <a:rPr sz="2900" b="1">
                <a:solidFill>
                  <a:srgbClr val="1A606A"/>
                </a:solidFill>
                <a:latin typeface="Aptos"/>
              </a:rPr>
              <a:t>VRAI                         FAUX</a:t>
            </a:r>
          </a:p>
        </p:txBody>
      </p:sp>
      <p:sp>
        <p:nvSpPr>
          <p:cNvPr id="6" name="TextBox 5"/>
          <p:cNvSpPr txBox="1"/>
          <p:nvPr/>
        </p:nvSpPr>
        <p:spPr>
          <a:xfrm>
            <a:off x="1005840" y="5349240"/>
            <a:ext cx="10149840" cy="502920"/>
          </a:xfrm>
          <a:prstGeom prst="rect">
            <a:avLst/>
          </a:prstGeom>
          <a:noFill/>
        </p:spPr>
        <p:txBody>
          <a:bodyPr wrap="square" lIns="137160" rIns="137160" anchor="ctr">
            <a:spAutoFit/>
          </a:bodyPr>
          <a:lstStyle/>
          <a:p>
            <a:pPr algn="ctr">
              <a:spcAft>
                <a:spcPts val="700"/>
              </a:spcAft>
            </a:pPr>
            <a:r>
              <a:rPr sz="1900" b="0">
                <a:solidFill>
                  <a:srgbClr val="C46941"/>
                </a:solidFill>
                <a:latin typeface="Aptos"/>
              </a:rPr>
              <a:t>Choisis, puis justifie ta réponse.</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Vague sur la côte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RÉPONSE · 2/10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FAUX !</a:t>
            </a:r>
          </a:p>
        </p:txBody>
      </p:sp>
      <p:sp>
        <p:nvSpPr>
          <p:cNvPr id="4" name="TextBox 3"/>
          <p:cNvSpPr txBox="1"/>
          <p:nvPr/>
        </p:nvSpPr>
        <p:spPr>
          <a:xfrm>
            <a:off x="822960" y="1645920"/>
            <a:ext cx="10515600" cy="2560320"/>
          </a:xfrm>
          <a:prstGeom prst="rect">
            <a:avLst/>
          </a:prstGeom>
          <a:solidFill>
            <a:srgbClr val="EAEFE9"/>
          </a:solidFill>
          <a:ln>
            <a:noFill/>
          </a:ln>
        </p:spPr>
        <p:txBody>
          <a:bodyPr wrap="square" lIns="137160" rIns="137160" anchor="ctr">
            <a:spAutoFit/>
          </a:bodyPr>
          <a:lstStyle/>
          <a:p>
            <a:pPr algn="l">
              <a:spcAft>
                <a:spcPts val="700"/>
              </a:spcAft>
            </a:pPr>
            <a:r>
              <a:rPr sz="2500" b="0">
                <a:solidFill>
                  <a:srgbClr val="1F2E34"/>
                </a:solidFill>
                <a:latin typeface="Aptos"/>
              </a:rPr>
              <a:t>Un tsunami est généralement causé par un déplacement brutal de l’eau, souvent à la suite d’un puissant séisme sous-marin. Ce n’est pas une vague créée par le vent.</a:t>
            </a:r>
          </a:p>
        </p:txBody>
      </p:sp>
      <p:sp>
        <p:nvSpPr>
          <p:cNvPr id="5" name="TextBox 4"/>
          <p:cNvSpPr txBox="1"/>
          <p:nvPr/>
        </p:nvSpPr>
        <p:spPr>
          <a:xfrm>
            <a:off x="822960" y="4663440"/>
            <a:ext cx="10515600" cy="411480"/>
          </a:xfrm>
          <a:prstGeom prst="rect">
            <a:avLst/>
          </a:prstGeom>
          <a:noFill/>
        </p:spPr>
        <p:txBody>
          <a:bodyPr wrap="square" lIns="137160" rIns="137160" anchor="ctr">
            <a:spAutoFit/>
          </a:bodyPr>
          <a:lstStyle/>
          <a:p>
            <a:pPr algn="l">
              <a:spcAft>
                <a:spcPts val="700"/>
              </a:spcAft>
            </a:pPr>
            <a:r>
              <a:rPr sz="1700" b="1">
                <a:solidFill>
                  <a:srgbClr val="1A606A"/>
                </a:solidFill>
                <a:latin typeface="Aptos"/>
              </a:rPr>
              <a:t>À SAVOIR</a:t>
            </a:r>
          </a:p>
        </p:txBody>
      </p:sp>
      <p:sp>
        <p:nvSpPr>
          <p:cNvPr id="6" name="TextBox 5"/>
          <p:cNvSpPr txBox="1"/>
          <p:nvPr/>
        </p:nvSpPr>
        <p:spPr>
          <a:xfrm>
            <a:off x="822960" y="5120640"/>
            <a:ext cx="10515600" cy="914400"/>
          </a:xfrm>
          <a:prstGeom prst="rect">
            <a:avLst/>
          </a:prstGeom>
          <a:noFill/>
        </p:spPr>
        <p:txBody>
          <a:bodyPr wrap="square" lIns="137160" rIns="137160" anchor="ctr">
            <a:spAutoFit/>
          </a:bodyPr>
          <a:lstStyle/>
          <a:p>
            <a:pPr algn="l">
              <a:spcAft>
                <a:spcPts val="700"/>
              </a:spcAft>
            </a:pPr>
            <a:r>
              <a:rPr sz="2000" b="1">
                <a:solidFill>
                  <a:srgbClr val="1F2E34"/>
                </a:solidFill>
                <a:latin typeface="Aptos"/>
              </a:rPr>
              <a:t>Un tsunami peut être composé de plusieurs vagues.</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Tsunami · vue du littoral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L’ÉTONNANT · 3/10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ou faux ?</a:t>
            </a:r>
          </a:p>
        </p:txBody>
      </p:sp>
      <p:sp>
        <p:nvSpPr>
          <p:cNvPr id="4" name="TextBox 3"/>
          <p:cNvSpPr txBox="1"/>
          <p:nvPr/>
        </p:nvSpPr>
        <p:spPr>
          <a:xfrm>
            <a:off x="822960" y="1737360"/>
            <a:ext cx="10515600" cy="1828800"/>
          </a:xfrm>
          <a:prstGeom prst="rect">
            <a:avLst/>
          </a:prstGeom>
          <a:solidFill>
            <a:srgbClr val="EAEFE9"/>
          </a:solidFill>
          <a:ln>
            <a:noFill/>
          </a:ln>
        </p:spPr>
        <p:txBody>
          <a:bodyPr wrap="square" lIns="137160" rIns="137160" anchor="ctr">
            <a:spAutoFit/>
          </a:bodyPr>
          <a:lstStyle/>
          <a:p>
            <a:pPr algn="ctr">
              <a:spcAft>
                <a:spcPts val="700"/>
              </a:spcAft>
            </a:pPr>
            <a:r>
              <a:rPr sz="3000" b="1">
                <a:solidFill>
                  <a:srgbClr val="1F2E34"/>
                </a:solidFill>
                <a:latin typeface="Aptos"/>
              </a:rPr>
              <a:t>Le mont Fuji est un volcan.</a:t>
            </a:r>
          </a:p>
        </p:txBody>
      </p:sp>
      <p:sp>
        <p:nvSpPr>
          <p:cNvPr id="5" name="TextBox 4"/>
          <p:cNvSpPr txBox="1"/>
          <p:nvPr/>
        </p:nvSpPr>
        <p:spPr>
          <a:xfrm>
            <a:off x="1097280" y="4114800"/>
            <a:ext cx="9966960" cy="685800"/>
          </a:xfrm>
          <a:prstGeom prst="rect">
            <a:avLst/>
          </a:prstGeom>
          <a:noFill/>
        </p:spPr>
        <p:txBody>
          <a:bodyPr wrap="square" lIns="137160" rIns="137160" anchor="ctr">
            <a:spAutoFit/>
          </a:bodyPr>
          <a:lstStyle/>
          <a:p>
            <a:pPr algn="ctr">
              <a:spcAft>
                <a:spcPts val="700"/>
              </a:spcAft>
            </a:pPr>
            <a:r>
              <a:rPr sz="2900" b="1">
                <a:solidFill>
                  <a:srgbClr val="1A606A"/>
                </a:solidFill>
                <a:latin typeface="Aptos"/>
              </a:rPr>
              <a:t>VRAI                         FAUX</a:t>
            </a:r>
          </a:p>
        </p:txBody>
      </p:sp>
      <p:sp>
        <p:nvSpPr>
          <p:cNvPr id="6" name="TextBox 5"/>
          <p:cNvSpPr txBox="1"/>
          <p:nvPr/>
        </p:nvSpPr>
        <p:spPr>
          <a:xfrm>
            <a:off x="1005840" y="5349240"/>
            <a:ext cx="10149840" cy="502920"/>
          </a:xfrm>
          <a:prstGeom prst="rect">
            <a:avLst/>
          </a:prstGeom>
          <a:noFill/>
        </p:spPr>
        <p:txBody>
          <a:bodyPr wrap="square" lIns="137160" rIns="137160" anchor="ctr">
            <a:spAutoFit/>
          </a:bodyPr>
          <a:lstStyle/>
          <a:p>
            <a:pPr algn="ctr">
              <a:spcAft>
                <a:spcPts val="700"/>
              </a:spcAft>
            </a:pPr>
            <a:r>
              <a:rPr sz="1900" b="0">
                <a:solidFill>
                  <a:srgbClr val="C46941"/>
                </a:solidFill>
                <a:latin typeface="Aptos"/>
              </a:rPr>
              <a:t>Choisis, puis justifie ta réponse.</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Mont Fuji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RÉPONSE · 3/10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a:t>
            </a:r>
          </a:p>
        </p:txBody>
      </p:sp>
      <p:sp>
        <p:nvSpPr>
          <p:cNvPr id="4" name="TextBox 3"/>
          <p:cNvSpPr txBox="1"/>
          <p:nvPr/>
        </p:nvSpPr>
        <p:spPr>
          <a:xfrm>
            <a:off x="822960" y="1645920"/>
            <a:ext cx="10515600" cy="2560320"/>
          </a:xfrm>
          <a:prstGeom prst="rect">
            <a:avLst/>
          </a:prstGeom>
          <a:solidFill>
            <a:srgbClr val="EAEFE9"/>
          </a:solidFill>
          <a:ln>
            <a:noFill/>
          </a:ln>
        </p:spPr>
        <p:txBody>
          <a:bodyPr wrap="square" lIns="137160" rIns="137160" anchor="ctr">
            <a:spAutoFit/>
          </a:bodyPr>
          <a:lstStyle/>
          <a:p>
            <a:pPr algn="l">
              <a:spcAft>
                <a:spcPts val="700"/>
              </a:spcAft>
            </a:pPr>
            <a:r>
              <a:rPr sz="2500" b="0">
                <a:solidFill>
                  <a:srgbClr val="1F2E34"/>
                </a:solidFill>
                <a:latin typeface="Aptos"/>
              </a:rPr>
              <a:t>Le mont Fuji est un volcan situé sur l’île de Honshū. Il est devenu un symbole culturel et artistique du Japon.</a:t>
            </a:r>
          </a:p>
        </p:txBody>
      </p:sp>
      <p:sp>
        <p:nvSpPr>
          <p:cNvPr id="5" name="TextBox 4"/>
          <p:cNvSpPr txBox="1"/>
          <p:nvPr/>
        </p:nvSpPr>
        <p:spPr>
          <a:xfrm>
            <a:off x="822960" y="4663440"/>
            <a:ext cx="10515600" cy="411480"/>
          </a:xfrm>
          <a:prstGeom prst="rect">
            <a:avLst/>
          </a:prstGeom>
          <a:noFill/>
        </p:spPr>
        <p:txBody>
          <a:bodyPr wrap="square" lIns="137160" rIns="137160" anchor="ctr">
            <a:spAutoFit/>
          </a:bodyPr>
          <a:lstStyle/>
          <a:p>
            <a:pPr algn="l">
              <a:spcAft>
                <a:spcPts val="700"/>
              </a:spcAft>
            </a:pPr>
            <a:r>
              <a:rPr sz="1700" b="1">
                <a:solidFill>
                  <a:srgbClr val="1A606A"/>
                </a:solidFill>
                <a:latin typeface="Aptos"/>
              </a:rPr>
              <a:t>À SAVOIR</a:t>
            </a:r>
          </a:p>
        </p:txBody>
      </p:sp>
      <p:sp>
        <p:nvSpPr>
          <p:cNvPr id="6" name="TextBox 5"/>
          <p:cNvSpPr txBox="1"/>
          <p:nvPr/>
        </p:nvSpPr>
        <p:spPr>
          <a:xfrm>
            <a:off x="822960" y="5120640"/>
            <a:ext cx="10515600" cy="914400"/>
          </a:xfrm>
          <a:prstGeom prst="rect">
            <a:avLst/>
          </a:prstGeom>
          <a:noFill/>
        </p:spPr>
        <p:txBody>
          <a:bodyPr wrap="square" lIns="137160" rIns="137160" anchor="ctr">
            <a:spAutoFit/>
          </a:bodyPr>
          <a:lstStyle/>
          <a:p>
            <a:pPr algn="l">
              <a:spcAft>
                <a:spcPts val="700"/>
              </a:spcAft>
            </a:pPr>
            <a:r>
              <a:rPr sz="2000" b="1">
                <a:solidFill>
                  <a:srgbClr val="1F2E34"/>
                </a:solidFill>
                <a:latin typeface="Aptos"/>
              </a:rPr>
              <a:t>Un volcan peut rester longtemps sans entrer en éruption.</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Mont Fuji · cratère</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L’ÉTONNANT · 4/10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Vrai ou faux ?</a:t>
            </a:r>
          </a:p>
        </p:txBody>
      </p:sp>
      <p:sp>
        <p:nvSpPr>
          <p:cNvPr id="4" name="TextBox 3"/>
          <p:cNvSpPr txBox="1"/>
          <p:nvPr/>
        </p:nvSpPr>
        <p:spPr>
          <a:xfrm>
            <a:off x="822960" y="1737360"/>
            <a:ext cx="10515600" cy="1828800"/>
          </a:xfrm>
          <a:prstGeom prst="rect">
            <a:avLst/>
          </a:prstGeom>
          <a:solidFill>
            <a:srgbClr val="EAEFE9"/>
          </a:solidFill>
          <a:ln>
            <a:noFill/>
          </a:ln>
        </p:spPr>
        <p:txBody>
          <a:bodyPr wrap="square" lIns="137160" rIns="137160" anchor="ctr">
            <a:spAutoFit/>
          </a:bodyPr>
          <a:lstStyle/>
          <a:p>
            <a:pPr algn="ctr">
              <a:spcAft>
                <a:spcPts val="700"/>
              </a:spcAft>
            </a:pPr>
            <a:r>
              <a:rPr sz="3000" b="1">
                <a:solidFill>
                  <a:srgbClr val="1F2E34"/>
                </a:solidFill>
                <a:latin typeface="Aptos"/>
              </a:rPr>
              <a:t>Tous les séismes peuvent être prédits précisément plusieurs jours à l’avance.</a:t>
            </a:r>
          </a:p>
        </p:txBody>
      </p:sp>
      <p:sp>
        <p:nvSpPr>
          <p:cNvPr id="5" name="TextBox 4"/>
          <p:cNvSpPr txBox="1"/>
          <p:nvPr/>
        </p:nvSpPr>
        <p:spPr>
          <a:xfrm>
            <a:off x="1097280" y="4114800"/>
            <a:ext cx="9966960" cy="685800"/>
          </a:xfrm>
          <a:prstGeom prst="rect">
            <a:avLst/>
          </a:prstGeom>
          <a:noFill/>
        </p:spPr>
        <p:txBody>
          <a:bodyPr wrap="square" lIns="137160" rIns="137160" anchor="ctr">
            <a:spAutoFit/>
          </a:bodyPr>
          <a:lstStyle/>
          <a:p>
            <a:pPr algn="ctr">
              <a:spcAft>
                <a:spcPts val="700"/>
              </a:spcAft>
            </a:pPr>
            <a:r>
              <a:rPr sz="2900" b="1">
                <a:solidFill>
                  <a:srgbClr val="1A606A"/>
                </a:solidFill>
                <a:latin typeface="Aptos"/>
              </a:rPr>
              <a:t>VRAI                         FAUX</a:t>
            </a:r>
          </a:p>
        </p:txBody>
      </p:sp>
      <p:sp>
        <p:nvSpPr>
          <p:cNvPr id="6" name="TextBox 5"/>
          <p:cNvSpPr txBox="1"/>
          <p:nvPr/>
        </p:nvSpPr>
        <p:spPr>
          <a:xfrm>
            <a:off x="1005840" y="5349240"/>
            <a:ext cx="10149840" cy="502920"/>
          </a:xfrm>
          <a:prstGeom prst="rect">
            <a:avLst/>
          </a:prstGeom>
          <a:noFill/>
        </p:spPr>
        <p:txBody>
          <a:bodyPr wrap="square" lIns="137160" rIns="137160" anchor="ctr">
            <a:spAutoFit/>
          </a:bodyPr>
          <a:lstStyle/>
          <a:p>
            <a:pPr algn="ctr">
              <a:spcAft>
                <a:spcPts val="700"/>
              </a:spcAft>
            </a:pPr>
            <a:r>
              <a:rPr sz="1900" b="0">
                <a:solidFill>
                  <a:srgbClr val="C46941"/>
                </a:solidFill>
                <a:latin typeface="Aptos"/>
              </a:rPr>
              <a:t>Choisis, puis justifie ta réponse.</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10" name="TextBox 9"/>
          <p:cNvSpPr txBox="1"/>
          <p:nvPr/>
        </p:nvSpPr>
        <p:spPr>
          <a:xfrm>
            <a:off x="10351008" y="491032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11" name="Rounded Rectangle 10"/>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Sismographe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MARDI · RÉPONSE · 4/10</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FAUX !</a:t>
            </a:r>
          </a:p>
        </p:txBody>
      </p:sp>
      <p:sp>
        <p:nvSpPr>
          <p:cNvPr id="4" name="TextBox 3"/>
          <p:cNvSpPr txBox="1"/>
          <p:nvPr/>
        </p:nvSpPr>
        <p:spPr>
          <a:xfrm>
            <a:off x="822960" y="1645920"/>
            <a:ext cx="10515600" cy="2560320"/>
          </a:xfrm>
          <a:prstGeom prst="rect">
            <a:avLst/>
          </a:prstGeom>
          <a:solidFill>
            <a:srgbClr val="EAEFE9"/>
          </a:solidFill>
          <a:ln>
            <a:noFill/>
          </a:ln>
        </p:spPr>
        <p:txBody>
          <a:bodyPr wrap="square" lIns="137160" rIns="137160" anchor="ctr">
            <a:spAutoFit/>
          </a:bodyPr>
          <a:lstStyle/>
          <a:p>
            <a:pPr algn="l">
              <a:spcAft>
                <a:spcPts val="700"/>
              </a:spcAft>
            </a:pPr>
            <a:r>
              <a:rPr sz="2500" b="0">
                <a:solidFill>
                  <a:srgbClr val="1F2E34"/>
                </a:solidFill>
                <a:latin typeface="Aptos"/>
              </a:rPr>
              <a:t>Les scientifiques surveillent l’activité sismique et évaluent les risques, mais ils ne savent pas prédire précisément le jour, le lieu et la magnitude d’un séisme.</a:t>
            </a:r>
          </a:p>
        </p:txBody>
      </p:sp>
      <p:sp>
        <p:nvSpPr>
          <p:cNvPr id="5" name="TextBox 4"/>
          <p:cNvSpPr txBox="1"/>
          <p:nvPr/>
        </p:nvSpPr>
        <p:spPr>
          <a:xfrm>
            <a:off x="822960" y="4663440"/>
            <a:ext cx="10515600" cy="411480"/>
          </a:xfrm>
          <a:prstGeom prst="rect">
            <a:avLst/>
          </a:prstGeom>
          <a:noFill/>
        </p:spPr>
        <p:txBody>
          <a:bodyPr wrap="square" lIns="137160" rIns="137160" anchor="ctr">
            <a:spAutoFit/>
          </a:bodyPr>
          <a:lstStyle/>
          <a:p>
            <a:pPr algn="l">
              <a:spcAft>
                <a:spcPts val="700"/>
              </a:spcAft>
            </a:pPr>
            <a:r>
              <a:rPr sz="1700" b="1">
                <a:solidFill>
                  <a:srgbClr val="1A606A"/>
                </a:solidFill>
                <a:latin typeface="Aptos"/>
              </a:rPr>
              <a:t>À SAVOIR</a:t>
            </a:r>
          </a:p>
        </p:txBody>
      </p:sp>
      <p:sp>
        <p:nvSpPr>
          <p:cNvPr id="6" name="TextBox 5"/>
          <p:cNvSpPr txBox="1"/>
          <p:nvPr/>
        </p:nvSpPr>
        <p:spPr>
          <a:xfrm>
            <a:off x="822960" y="5120640"/>
            <a:ext cx="10515600" cy="914400"/>
          </a:xfrm>
          <a:prstGeom prst="rect">
            <a:avLst/>
          </a:prstGeom>
          <a:noFill/>
        </p:spPr>
        <p:txBody>
          <a:bodyPr wrap="square" lIns="137160" rIns="137160" anchor="ctr">
            <a:spAutoFit/>
          </a:bodyPr>
          <a:lstStyle/>
          <a:p>
            <a:pPr algn="l">
              <a:spcAft>
                <a:spcPts val="700"/>
              </a:spcAft>
            </a:pPr>
            <a:r>
              <a:rPr sz="2000" b="1">
                <a:solidFill>
                  <a:srgbClr val="1F2E34"/>
                </a:solidFill>
                <a:latin typeface="Aptos"/>
              </a:rPr>
              <a:t>La préparation et les consignes de sécurité sont donc essentielles.</a:t>
            </a:r>
          </a:p>
        </p:txBody>
      </p:sp>
      <p:sp>
        <p:nvSpPr>
          <p:cNvPr id="7" name="TextBox 6"/>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MARDI 22 SEPTEMBRE 2026</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Station de surveillance sismique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5/10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À Tokyo, un carrefour peut être traversé par des milliers de piétons lors d’un seul feu vert.</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Carrefour de Shibuya</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5/10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VRAI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Le carrefour de Shibuya est célèbre pour ses passages piétons simultanés. Des milliers de personnes peuvent traverser lors d’un même cycle, selon l’affluence.</a:t>
            </a:r>
          </a:p>
        </p:txBody>
      </p:sp>
      <p:sp>
        <p:nvSpPr>
          <p:cNvPr id="7" name="Rounded Rectangle 6"/>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Shibuya · traversée piétonne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6/10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Au Japon, il existe une île où vivent de nombreux lapins en liberté.</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Lapins de l’île d’Ōkunoshima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6/10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VRAI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Sur l’île d’Ōkunoshima, de nombreux lapins vivent en liberté. Ce lieu attire des visiteurs, mais les animaux restent des êtres vivants à respecter.</a:t>
            </a:r>
          </a:p>
        </p:txBody>
      </p:sp>
      <p:sp>
        <p:nvSpPr>
          <p:cNvPr id="7" name="Rounded Rectangle 6"/>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Lapins en liberté</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7/10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Certains trains japonais peuvent se déplacer au-dessus de leur voie grâce à des aimants.</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Train japonais à sustentation</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7/10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VRAI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Les trains à sustentation magnétique, ou maglev, peuvent léviter légèrement au-dessus de la voie grâce aux forces magnétiques.</a:t>
            </a:r>
          </a:p>
        </p:txBody>
      </p:sp>
      <p:sp>
        <p:nvSpPr>
          <p:cNvPr id="7" name="Rounded Rectangle 6"/>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Train maglev japonais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8/10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Lors d’un séisme, les immeubles japonais les plus hauts sont conçus pour rester parfaitement immobiles.</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10" name="TextBox 9"/>
          <p:cNvSpPr txBox="1"/>
          <p:nvPr/>
        </p:nvSpPr>
        <p:spPr>
          <a:xfrm>
            <a:off x="9893808" y="308152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11" name="Rounded Rectangle 10"/>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Immeubles de Tokyo</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8/10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FAUX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Des bâtiments sont conçus pour se déformer ou osciller de manière contrôlée : absorber les mouvements peut limiter les dégâts. Aucun bâtiment n’est garanti sans risque.</a:t>
            </a:r>
          </a:p>
        </p:txBody>
      </p:sp>
      <p:sp>
        <p:nvSpPr>
          <p:cNvPr id="9" name="TextBox 8"/>
          <p:cNvSpPr txBox="1"/>
          <p:nvPr/>
        </p:nvSpPr>
        <p:spPr>
          <a:xfrm>
            <a:off x="9893808" y="331012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10" name="Rounded Rectangle 9"/>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Bâtiment parasismique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9/10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Le Japon possède des sources d’eau chaude naturelles dans lesquelles on peut se baigner.</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Bains japonais · onsen</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9/10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VRAI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Les onsen sont des bains alimentés par des eaux naturellement chaudes, souvent liées à l’activité géothermique. Leurs usages obéissent à des règles locales.</a:t>
            </a:r>
          </a:p>
        </p:txBody>
      </p:sp>
      <p:sp>
        <p:nvSpPr>
          <p:cNvPr id="7" name="Rounded Rectangle 6"/>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Source d’eau chaude naturelle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Vrai ou faux ? · 10/10</a:t>
            </a:r>
          </a:p>
        </p:txBody>
      </p:sp>
      <p:sp>
        <p:nvSpPr>
          <p:cNvPr id="5" name="TextBox 4"/>
          <p:cNvSpPr txBox="1"/>
          <p:nvPr/>
        </p:nvSpPr>
        <p:spPr>
          <a:xfrm>
            <a:off x="731520" y="1691640"/>
            <a:ext cx="7955279" cy="2148840"/>
          </a:xfrm>
          <a:prstGeom prst="rect">
            <a:avLst/>
          </a:prstGeom>
          <a:noFill/>
        </p:spPr>
        <p:txBody>
          <a:bodyPr wrap="square" anchor="ctr">
            <a:spAutoFit/>
          </a:bodyPr>
          <a:lstStyle/>
          <a:p>
            <a:pPr algn="l"/>
            <a:r>
              <a:rPr sz="2700" b="1">
                <a:solidFill>
                  <a:srgbClr val="222F37"/>
                </a:solidFill>
                <a:latin typeface="Aptos"/>
              </a:rPr>
              <a:t>Après un puissant séisme en mer, la première vague d’un tsunami est toujours la plus haute.</a:t>
            </a:r>
          </a:p>
        </p:txBody>
      </p:sp>
      <p:sp>
        <p:nvSpPr>
          <p:cNvPr id="6" name="TextBox 5"/>
          <p:cNvSpPr txBox="1"/>
          <p:nvPr/>
        </p:nvSpPr>
        <p:spPr>
          <a:xfrm>
            <a:off x="822960" y="4681728"/>
            <a:ext cx="7680960" cy="594360"/>
          </a:xfrm>
          <a:prstGeom prst="rect">
            <a:avLst/>
          </a:prstGeom>
          <a:noFill/>
        </p:spPr>
        <p:txBody>
          <a:bodyPr wrap="square" anchor="ctr">
            <a:spAutoFit/>
          </a:bodyPr>
          <a:lstStyle/>
          <a:p>
            <a:pPr algn="l"/>
            <a:r>
              <a:rPr sz="2400" b="1">
                <a:solidFill>
                  <a:srgbClr val="B53B37"/>
                </a:solidFill>
                <a:latin typeface="Aptos"/>
              </a:rPr>
              <a:t>VRAI                         FAUX</a:t>
            </a:r>
          </a:p>
        </p:txBody>
      </p:sp>
      <p:sp>
        <p:nvSpPr>
          <p:cNvPr id="7" name="TextBox 6"/>
          <p:cNvSpPr txBox="1"/>
          <p:nvPr/>
        </p:nvSpPr>
        <p:spPr>
          <a:xfrm>
            <a:off x="822960" y="5532120"/>
            <a:ext cx="7680960" cy="457200"/>
          </a:xfrm>
          <a:prstGeom prst="rect">
            <a:avLst/>
          </a:prstGeom>
          <a:noFill/>
        </p:spPr>
        <p:txBody>
          <a:bodyPr wrap="square" anchor="ctr">
            <a:spAutoFit/>
          </a:bodyPr>
          <a:lstStyle/>
          <a:p>
            <a:pPr algn="l"/>
            <a:r>
              <a:rPr sz="1700" b="0">
                <a:solidFill>
                  <a:srgbClr val="222F37"/>
                </a:solidFill>
                <a:latin typeface="Aptos"/>
              </a:rPr>
              <a:t>Choisis et explique ton hypothèse.</a:t>
            </a:r>
          </a:p>
        </p:txBody>
      </p:sp>
      <p:sp>
        <p:nvSpPr>
          <p:cNvPr id="8" name="Rounded Rectangle 7"/>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Littoral du Japon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MARDI 22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Réponse · 10/10</a:t>
            </a:r>
          </a:p>
        </p:txBody>
      </p:sp>
      <p:sp>
        <p:nvSpPr>
          <p:cNvPr id="5" name="TextBox 4"/>
          <p:cNvSpPr txBox="1"/>
          <p:nvPr/>
        </p:nvSpPr>
        <p:spPr>
          <a:xfrm>
            <a:off x="822960" y="1627632"/>
            <a:ext cx="7498079" cy="658368"/>
          </a:xfrm>
          <a:prstGeom prst="rect">
            <a:avLst/>
          </a:prstGeom>
          <a:noFill/>
        </p:spPr>
        <p:txBody>
          <a:bodyPr wrap="square" anchor="ctr">
            <a:spAutoFit/>
          </a:bodyPr>
          <a:lstStyle/>
          <a:p>
            <a:pPr algn="l"/>
            <a:r>
              <a:rPr sz="3400" b="1">
                <a:solidFill>
                  <a:srgbClr val="B53B37"/>
                </a:solidFill>
                <a:latin typeface="Aptos"/>
              </a:rPr>
              <a:t>FAUX !</a:t>
            </a:r>
          </a:p>
        </p:txBody>
      </p:sp>
      <p:sp>
        <p:nvSpPr>
          <p:cNvPr id="6" name="TextBox 5"/>
          <p:cNvSpPr txBox="1"/>
          <p:nvPr/>
        </p:nvSpPr>
        <p:spPr>
          <a:xfrm>
            <a:off x="822960" y="2542032"/>
            <a:ext cx="7909560" cy="2560320"/>
          </a:xfrm>
          <a:prstGeom prst="rect">
            <a:avLst/>
          </a:prstGeom>
          <a:noFill/>
        </p:spPr>
        <p:txBody>
          <a:bodyPr wrap="square" anchor="ctr">
            <a:spAutoFit/>
          </a:bodyPr>
          <a:lstStyle/>
          <a:p>
            <a:pPr algn="l"/>
            <a:r>
              <a:rPr sz="2300" b="0">
                <a:solidFill>
                  <a:srgbClr val="222F37"/>
                </a:solidFill>
                <a:latin typeface="Aptos"/>
              </a:rPr>
              <a:t>Un tsunami peut arriver en plusieurs vagues ; la première n’est pas nécessairement la plus grande. On suit les alertes et on ne retourne pas trop tôt vers la côte.</a:t>
            </a:r>
          </a:p>
        </p:txBody>
      </p:sp>
      <p:sp>
        <p:nvSpPr>
          <p:cNvPr id="7" name="Rounded Rectangle 6"/>
          <p:cNvSpPr/>
          <p:nvPr/>
        </p:nvSpPr>
        <p:spPr>
          <a:xfrm>
            <a:off x="9491472" y="5175504"/>
            <a:ext cx="2194560" cy="112471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Tsunami · plusieurs vagues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01168"/>
            <a:ext cx="11002975" cy="347472"/>
          </a:xfrm>
          <a:prstGeom prst="rect">
            <a:avLst/>
          </a:prstGeom>
          <a:noFill/>
        </p:spPr>
        <p:txBody>
          <a:bodyPr wrap="square" anchor="ctr">
            <a:spAutoFit/>
          </a:bodyPr>
          <a:lstStyle/>
          <a:p>
            <a:pPr algn="l"/>
            <a:r>
              <a:rPr sz="1600" b="1">
                <a:solidFill>
                  <a:srgbClr val="346B89"/>
                </a:solidFill>
                <a:latin typeface="Aptos"/>
              </a:rPr>
              <a:t>MARDI 22 SEPTEMBRE 2026</a:t>
            </a:r>
          </a:p>
        </p:txBody>
      </p:sp>
      <p:sp>
        <p:nvSpPr>
          <p:cNvPr id="4" name="TextBox 3"/>
          <p:cNvSpPr txBox="1"/>
          <p:nvPr/>
        </p:nvSpPr>
        <p:spPr>
          <a:xfrm>
            <a:off x="640080" y="713232"/>
            <a:ext cx="10911535" cy="685800"/>
          </a:xfrm>
          <a:prstGeom prst="rect">
            <a:avLst/>
          </a:prstGeom>
          <a:noFill/>
        </p:spPr>
        <p:txBody>
          <a:bodyPr wrap="square" anchor="ctr">
            <a:spAutoFit/>
          </a:bodyPr>
          <a:lstStyle/>
          <a:p>
            <a:pPr algn="l"/>
            <a:r>
              <a:rPr sz="3000" b="1">
                <a:solidFill>
                  <a:srgbClr val="222F37"/>
                </a:solidFill>
                <a:latin typeface="Aptos"/>
              </a:rPr>
              <a:t>L’étonnant · Ma phrase du jour</a:t>
            </a:r>
          </a:p>
        </p:txBody>
      </p:sp>
      <p:sp>
        <p:nvSpPr>
          <p:cNvPr id="5" name="TextBox 4"/>
          <p:cNvSpPr txBox="1"/>
          <p:nvPr/>
        </p:nvSpPr>
        <p:spPr>
          <a:xfrm>
            <a:off x="731520" y="1508760"/>
            <a:ext cx="10728655" cy="960120"/>
          </a:xfrm>
          <a:prstGeom prst="rect">
            <a:avLst/>
          </a:prstGeom>
          <a:noFill/>
        </p:spPr>
        <p:txBody>
          <a:bodyPr wrap="square" anchor="ctr">
            <a:spAutoFit/>
          </a:bodyPr>
          <a:lstStyle/>
          <a:p>
            <a:pPr algn="l"/>
            <a:r>
              <a:rPr sz="2100" b="1">
                <a:solidFill>
                  <a:srgbClr val="346B89"/>
                </a:solidFill>
                <a:latin typeface="Aptos"/>
              </a:rPr>
              <a:t>Dans ton cahier du jour : saute une ligne, écris la date, puis choisis le fait qui t’a le plus étonné.</a:t>
            </a:r>
          </a:p>
        </p:txBody>
      </p:sp>
      <p:sp>
        <p:nvSpPr>
          <p:cNvPr id="6" name="TextBox 5"/>
          <p:cNvSpPr txBox="1"/>
          <p:nvPr/>
        </p:nvSpPr>
        <p:spPr>
          <a:xfrm>
            <a:off x="777240" y="2606040"/>
            <a:ext cx="10637215" cy="457200"/>
          </a:xfrm>
          <a:prstGeom prst="rect">
            <a:avLst/>
          </a:prstGeom>
          <a:noFill/>
        </p:spPr>
        <p:txBody>
          <a:bodyPr wrap="square" anchor="ctr">
            <a:spAutoFit/>
          </a:bodyPr>
          <a:lstStyle/>
          <a:p>
            <a:pPr algn="l"/>
            <a:r>
              <a:rPr sz="2000" b="1">
                <a:solidFill>
                  <a:srgbClr val="222F37"/>
                </a:solidFill>
                <a:latin typeface="Aptos"/>
              </a:rPr>
              <a:t>Pour écrire ta phrase, tu peux commencer par :</a:t>
            </a:r>
          </a:p>
        </p:txBody>
      </p:sp>
      <p:sp>
        <p:nvSpPr>
          <p:cNvPr id="7" name="TextBox 6"/>
          <p:cNvSpPr txBox="1"/>
          <p:nvPr/>
        </p:nvSpPr>
        <p:spPr>
          <a:xfrm>
            <a:off x="822960" y="3154680"/>
            <a:ext cx="10545775" cy="2468880"/>
          </a:xfrm>
          <a:prstGeom prst="rect">
            <a:avLst/>
          </a:prstGeom>
          <a:noFill/>
        </p:spPr>
        <p:txBody>
          <a:bodyPr wrap="square" anchor="ctr">
            <a:spAutoFit/>
          </a:bodyPr>
          <a:lstStyle/>
          <a:p>
            <a:pPr algn="l"/>
            <a:r>
              <a:rPr sz="2300" b="0">
                <a:solidFill>
                  <a:srgbClr val="222F37"/>
                </a:solidFill>
                <a:latin typeface="Aptos"/>
              </a:rPr>
              <a:t>« Ce qui est surprenant, c’est que… »</a:t>
            </a:r>
          </a:p>
          <a:p>
            <a:pPr algn="l"/>
            <a:r>
              <a:rPr sz="2300" b="0">
                <a:solidFill>
                  <a:srgbClr val="222F37"/>
                </a:solidFill>
                <a:latin typeface="Aptos"/>
              </a:rPr>
              <a:t>« J’ai été étonné(e) d’apprendre que… »</a:t>
            </a:r>
          </a:p>
          <a:p>
            <a:pPr algn="l"/>
            <a:r>
              <a:rPr sz="2300" b="0">
                <a:solidFill>
                  <a:srgbClr val="222F37"/>
                </a:solidFill>
                <a:latin typeface="Aptos"/>
              </a:rPr>
              <a:t>« Je ne savais pas que… »</a:t>
            </a:r>
          </a:p>
          <a:p>
            <a:pPr algn="l"/>
            <a:r>
              <a:rPr sz="2300" b="0">
                <a:solidFill>
                  <a:srgbClr val="222F37"/>
                </a:solidFill>
                <a:latin typeface="Aptos"/>
              </a:rPr>
              <a:t>« Ce qui m’a le plus impressionné(e), c’est… »</a:t>
            </a:r>
          </a:p>
        </p:txBody>
      </p:sp>
      <p:sp>
        <p:nvSpPr>
          <p:cNvPr id="8" name="TextBox 7"/>
          <p:cNvSpPr txBox="1"/>
          <p:nvPr/>
        </p:nvSpPr>
        <p:spPr>
          <a:xfrm>
            <a:off x="822960" y="5760720"/>
            <a:ext cx="10545775" cy="411480"/>
          </a:xfrm>
          <a:prstGeom prst="rect">
            <a:avLst/>
          </a:prstGeom>
          <a:noFill/>
        </p:spPr>
        <p:txBody>
          <a:bodyPr wrap="square" anchor="ctr">
            <a:spAutoFit/>
          </a:bodyPr>
          <a:lstStyle/>
          <a:p>
            <a:pPr algn="l"/>
            <a:r>
              <a:rPr sz="1700" b="1">
                <a:solidFill>
                  <a:srgbClr val="B53B37"/>
                </a:solidFill>
                <a:latin typeface="Aptos"/>
              </a:rPr>
              <a:t>Ajoute une deuxième phrase pour expliquer pourquoi.</a:t>
            </a:r>
          </a:p>
        </p:txBody>
      </p:sp>
      <p:sp>
        <p:nvSpPr>
          <p:cNvPr id="9" name="Rounded Rectangle 8"/>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Cerisiers du Japon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JEUDI 24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Qu’est-ce qu’une plaque tectonique ?</a:t>
            </a:r>
          </a:p>
        </p:txBody>
      </p:sp>
      <p:sp>
        <p:nvSpPr>
          <p:cNvPr id="5" name="TextBox 4"/>
          <p:cNvSpPr txBox="1"/>
          <p:nvPr/>
        </p:nvSpPr>
        <p:spPr>
          <a:xfrm>
            <a:off x="731520" y="1691640"/>
            <a:ext cx="7863840" cy="1645920"/>
          </a:xfrm>
          <a:prstGeom prst="rect">
            <a:avLst/>
          </a:prstGeom>
          <a:noFill/>
        </p:spPr>
        <p:txBody>
          <a:bodyPr wrap="square" anchor="ctr">
            <a:spAutoFit/>
          </a:bodyPr>
          <a:lstStyle/>
          <a:p>
            <a:pPr algn="l"/>
            <a:r>
              <a:rPr sz="2400" b="0">
                <a:solidFill>
                  <a:srgbClr val="222F37"/>
                </a:solidFill>
                <a:latin typeface="Aptos"/>
              </a:rPr>
              <a:t>La couche externe solide de la Terre est découpée en grandes plaques rocheuses. Elles se déplacent de quelques centimètres par an.</a:t>
            </a:r>
          </a:p>
        </p:txBody>
      </p:sp>
      <p:sp>
        <p:nvSpPr>
          <p:cNvPr id="6" name="TextBox 5"/>
          <p:cNvSpPr txBox="1"/>
          <p:nvPr/>
        </p:nvSpPr>
        <p:spPr>
          <a:xfrm>
            <a:off x="731520" y="3703320"/>
            <a:ext cx="7772400" cy="1325880"/>
          </a:xfrm>
          <a:prstGeom prst="rect">
            <a:avLst/>
          </a:prstGeom>
          <a:noFill/>
        </p:spPr>
        <p:txBody>
          <a:bodyPr wrap="square" anchor="ctr">
            <a:spAutoFit/>
          </a:bodyPr>
          <a:lstStyle/>
          <a:p>
            <a:pPr algn="l"/>
            <a:r>
              <a:rPr sz="2200" b="0">
                <a:solidFill>
                  <a:srgbClr val="222F37"/>
                </a:solidFill>
                <a:latin typeface="Aptos"/>
              </a:rPr>
              <a:t>À leurs limites, elles peuvent se rapprocher, s’écarter ou glisser l’une contre l’autre.</a:t>
            </a:r>
          </a:p>
        </p:txBody>
      </p:sp>
      <p:sp>
        <p:nvSpPr>
          <p:cNvPr id="9" name="TextBox 8"/>
          <p:cNvSpPr txBox="1"/>
          <p:nvPr/>
        </p:nvSpPr>
        <p:spPr>
          <a:xfrm>
            <a:off x="9848088" y="317296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10" name="Rounded Rectangle 9"/>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Schéma des plaques tectoniques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0" y="0"/>
            <a:ext cx="12191695" cy="6858000"/>
          </a:xfrm>
          <a:prstGeom prst="round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09728"/>
            <a:ext cx="11277295" cy="320040"/>
          </a:xfrm>
          <a:prstGeom prst="rect">
            <a:avLst/>
          </a:prstGeom>
          <a:noFill/>
        </p:spPr>
        <p:txBody>
          <a:bodyPr wrap="square" anchor="ctr">
            <a:spAutoFit/>
          </a:bodyPr>
          <a:lstStyle/>
          <a:p>
            <a:pPr algn="l"/>
            <a:r>
              <a:rPr sz="1300" b="1">
                <a:solidFill>
                  <a:srgbClr val="346B89"/>
                </a:solidFill>
                <a:latin typeface="Aptos"/>
              </a:rPr>
              <a:t>JEUDI 24 SEPTEMBRE 2026</a:t>
            </a:r>
          </a:p>
        </p:txBody>
      </p:sp>
      <p:sp>
        <p:nvSpPr>
          <p:cNvPr id="4" name="TextBox 3"/>
          <p:cNvSpPr txBox="1"/>
          <p:nvPr/>
        </p:nvSpPr>
        <p:spPr>
          <a:xfrm>
            <a:off x="594360" y="594360"/>
            <a:ext cx="11277295" cy="621792"/>
          </a:xfrm>
          <a:prstGeom prst="rect">
            <a:avLst/>
          </a:prstGeom>
          <a:noFill/>
        </p:spPr>
        <p:txBody>
          <a:bodyPr wrap="square" anchor="ctr">
            <a:spAutoFit/>
          </a:bodyPr>
          <a:lstStyle/>
          <a:p>
            <a:pPr algn="l"/>
            <a:r>
              <a:rPr sz="3000" b="1">
                <a:solidFill>
                  <a:srgbClr val="222F37"/>
                </a:solidFill>
                <a:latin typeface="Aptos"/>
              </a:rPr>
              <a:t>Comment naît un séisme ?</a:t>
            </a:r>
          </a:p>
        </p:txBody>
      </p:sp>
      <p:sp>
        <p:nvSpPr>
          <p:cNvPr id="5" name="TextBox 4"/>
          <p:cNvSpPr txBox="1"/>
          <p:nvPr/>
        </p:nvSpPr>
        <p:spPr>
          <a:xfrm>
            <a:off x="731520" y="1554480"/>
            <a:ext cx="7863840" cy="4251960"/>
          </a:xfrm>
          <a:prstGeom prst="rect">
            <a:avLst/>
          </a:prstGeom>
          <a:noFill/>
        </p:spPr>
        <p:txBody>
          <a:bodyPr wrap="square" anchor="ctr">
            <a:spAutoFit/>
          </a:bodyPr>
          <a:lstStyle/>
          <a:p>
            <a:pPr algn="l"/>
            <a:r>
              <a:rPr sz="2300" b="0">
                <a:solidFill>
                  <a:srgbClr val="222F37"/>
                </a:solidFill>
                <a:latin typeface="Aptos"/>
              </a:rPr>
              <a:t>1. Des roches se bloquent le long d’une faille.</a:t>
            </a:r>
          </a:p>
          <a:p>
            <a:pPr algn="l"/>
            <a:endParaRPr sz="2300" b="0">
              <a:solidFill>
                <a:srgbClr val="222F37"/>
              </a:solidFill>
              <a:latin typeface="Aptos"/>
            </a:endParaRPr>
          </a:p>
          <a:p>
            <a:pPr algn="l"/>
            <a:r>
              <a:rPr sz="2300" b="0">
                <a:solidFill>
                  <a:srgbClr val="222F37"/>
                </a:solidFill>
                <a:latin typeface="Aptos"/>
              </a:rPr>
              <a:t>2. Les forces s’accumulent pendant que les plaques bougent.</a:t>
            </a:r>
          </a:p>
          <a:p>
            <a:pPr algn="l"/>
            <a:endParaRPr sz="2300" b="0">
              <a:solidFill>
                <a:srgbClr val="222F37"/>
              </a:solidFill>
              <a:latin typeface="Aptos"/>
            </a:endParaRPr>
          </a:p>
          <a:p>
            <a:pPr algn="l"/>
            <a:r>
              <a:rPr sz="2300" b="0">
                <a:solidFill>
                  <a:srgbClr val="222F37"/>
                </a:solidFill>
                <a:latin typeface="Aptos"/>
              </a:rPr>
              <a:t>3. Les roches rompent ou glissent brusquement : des ondes font trembler le sol.</a:t>
            </a:r>
          </a:p>
        </p:txBody>
      </p:sp>
      <p:sp>
        <p:nvSpPr>
          <p:cNvPr id="8" name="TextBox 7"/>
          <p:cNvSpPr txBox="1"/>
          <p:nvPr/>
        </p:nvSpPr>
        <p:spPr>
          <a:xfrm>
            <a:off x="9848088" y="326440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9" name="Rounded Rectangle 8"/>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Schéma d’une faille et des ondes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01168"/>
            <a:ext cx="11002975" cy="347472"/>
          </a:xfrm>
          <a:prstGeom prst="rect">
            <a:avLst/>
          </a:prstGeom>
          <a:noFill/>
        </p:spPr>
        <p:txBody>
          <a:bodyPr wrap="square" anchor="ctr">
            <a:spAutoFit/>
          </a:bodyPr>
          <a:lstStyle/>
          <a:p>
            <a:pPr algn="l"/>
            <a:r>
              <a:rPr sz="1600" b="1">
                <a:solidFill>
                  <a:srgbClr val="346B89"/>
                </a:solidFill>
                <a:latin typeface="Aptos"/>
              </a:rPr>
              <a:t>JEUDI 24 SEPTEMBRE 2026</a:t>
            </a:r>
          </a:p>
        </p:txBody>
      </p:sp>
      <p:sp>
        <p:nvSpPr>
          <p:cNvPr id="4" name="TextBox 3"/>
          <p:cNvSpPr txBox="1"/>
          <p:nvPr/>
        </p:nvSpPr>
        <p:spPr>
          <a:xfrm>
            <a:off x="640080" y="713232"/>
            <a:ext cx="10911535" cy="685800"/>
          </a:xfrm>
          <a:prstGeom prst="rect">
            <a:avLst/>
          </a:prstGeom>
          <a:noFill/>
        </p:spPr>
        <p:txBody>
          <a:bodyPr wrap="square" anchor="ctr">
            <a:spAutoFit/>
          </a:bodyPr>
          <a:lstStyle/>
          <a:p>
            <a:pPr algn="l"/>
            <a:r>
              <a:rPr sz="3000" b="1">
                <a:solidFill>
                  <a:srgbClr val="222F37"/>
                </a:solidFill>
                <a:latin typeface="Aptos"/>
              </a:rPr>
              <a:t>Fenêtre sur le monde · Les séismes au Japon</a:t>
            </a:r>
          </a:p>
        </p:txBody>
      </p:sp>
      <p:sp>
        <p:nvSpPr>
          <p:cNvPr id="5" name="TextBox 4"/>
          <p:cNvSpPr txBox="1"/>
          <p:nvPr/>
        </p:nvSpPr>
        <p:spPr>
          <a:xfrm>
            <a:off x="777240" y="1508760"/>
            <a:ext cx="10637215" cy="502920"/>
          </a:xfrm>
          <a:prstGeom prst="rect">
            <a:avLst/>
          </a:prstGeom>
          <a:noFill/>
        </p:spPr>
        <p:txBody>
          <a:bodyPr wrap="square" anchor="ctr">
            <a:spAutoFit/>
          </a:bodyPr>
          <a:lstStyle/>
          <a:p>
            <a:pPr algn="l"/>
            <a:r>
              <a:rPr sz="2100" b="1">
                <a:solidFill>
                  <a:srgbClr val="B53B37"/>
                </a:solidFill>
                <a:latin typeface="Aptos"/>
              </a:rPr>
              <a:t>VIDÉO · 3 min 14 s</a:t>
            </a:r>
          </a:p>
        </p:txBody>
      </p:sp>
      <p:sp>
        <p:nvSpPr>
          <p:cNvPr id="6" name="TextBox 5"/>
          <p:cNvSpPr txBox="1"/>
          <p:nvPr/>
        </p:nvSpPr>
        <p:spPr>
          <a:xfrm>
            <a:off x="777240" y="2103120"/>
            <a:ext cx="10637215" cy="822960"/>
          </a:xfrm>
          <a:prstGeom prst="rect">
            <a:avLst/>
          </a:prstGeom>
          <a:noFill/>
        </p:spPr>
        <p:txBody>
          <a:bodyPr wrap="square" anchor="ctr">
            <a:spAutoFit/>
          </a:bodyPr>
          <a:lstStyle/>
          <a:p>
            <a:pPr algn="l"/>
            <a:r>
              <a:rPr sz="2400" b="1">
                <a:solidFill>
                  <a:srgbClr val="222F37"/>
                </a:solidFill>
                <a:latin typeface="Aptos"/>
              </a:rPr>
              <a:t>C’est pas sorcier — « Tectonique des plaques et tremblements de terre » (Lumni).</a:t>
            </a:r>
          </a:p>
        </p:txBody>
      </p:sp>
      <p:sp>
        <p:nvSpPr>
          <p:cNvPr id="7" name="TextBox 6"/>
          <p:cNvSpPr txBox="1"/>
          <p:nvPr/>
        </p:nvSpPr>
        <p:spPr>
          <a:xfrm>
            <a:off x="822960" y="3127248"/>
            <a:ext cx="7772400" cy="685800"/>
          </a:xfrm>
          <a:prstGeom prst="rect">
            <a:avLst/>
          </a:prstGeom>
          <a:noFill/>
        </p:spPr>
        <p:txBody>
          <a:bodyPr wrap="square" anchor="ctr">
            <a:spAutoFit/>
          </a:bodyPr>
          <a:lstStyle/>
          <a:p>
            <a:pPr algn="l"/>
            <a:r>
              <a:rPr sz="2500" b="1">
                <a:solidFill>
                  <a:srgbClr val="346B89"/>
                </a:solidFill>
                <a:latin typeface="Aptos"/>
                <a:hlinkClick r:id="rId2"/>
              </a:rPr>
              <a:t>▶ OUVRIR LA VIDÉO LUMNI</a:t>
            </a:r>
          </a:p>
        </p:txBody>
      </p:sp>
      <p:sp>
        <p:nvSpPr>
          <p:cNvPr id="8" name="TextBox 7"/>
          <p:cNvSpPr txBox="1"/>
          <p:nvPr/>
        </p:nvSpPr>
        <p:spPr>
          <a:xfrm>
            <a:off x="822960" y="3840480"/>
            <a:ext cx="10545775" cy="594360"/>
          </a:xfrm>
          <a:prstGeom prst="rect">
            <a:avLst/>
          </a:prstGeom>
          <a:noFill/>
        </p:spPr>
        <p:txBody>
          <a:bodyPr wrap="square" anchor="ctr">
            <a:spAutoFit/>
          </a:bodyPr>
          <a:lstStyle/>
          <a:p>
            <a:pPr algn="l"/>
            <a:r>
              <a:rPr sz="1200" b="0">
                <a:solidFill>
                  <a:srgbClr val="346B89"/>
                </a:solidFill>
                <a:latin typeface="Aptos"/>
                <a:hlinkClick r:id="rId2"/>
              </a:rPr>
              <a:t>https://www.lumni.fr/video/tectonique-des-plaques-et-tremblements-de-terre</a:t>
            </a:r>
          </a:p>
        </p:txBody>
      </p:sp>
      <p:sp>
        <p:nvSpPr>
          <p:cNvPr id="9" name="TextBox 8"/>
          <p:cNvSpPr txBox="1"/>
          <p:nvPr/>
        </p:nvSpPr>
        <p:spPr>
          <a:xfrm>
            <a:off x="822960" y="4800600"/>
            <a:ext cx="10545775" cy="1097280"/>
          </a:xfrm>
          <a:prstGeom prst="rect">
            <a:avLst/>
          </a:prstGeom>
          <a:noFill/>
        </p:spPr>
        <p:txBody>
          <a:bodyPr wrap="square" anchor="ctr">
            <a:spAutoFit/>
          </a:bodyPr>
          <a:lstStyle/>
          <a:p>
            <a:pPr algn="l"/>
            <a:r>
              <a:rPr sz="2000" b="0">
                <a:solidFill>
                  <a:srgbClr val="222F37"/>
                </a:solidFill>
                <a:latin typeface="Aptos"/>
              </a:rPr>
              <a:t>Pendant la vidéo : repère ce qu’est une plaque tectonique, comment un séisme se produit et pourquoi le Japon est concerné.</a:t>
            </a:r>
          </a:p>
        </p:txBody>
      </p:sp>
      <p:sp>
        <p:nvSpPr>
          <p:cNvPr id="10" name="Rounded Rectangle 9"/>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Japon · séismes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JEUDI · APRÈS LA VIDÉO</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Trois idées à retenir</a:t>
            </a:r>
          </a:p>
        </p:txBody>
      </p:sp>
      <p:sp>
        <p:nvSpPr>
          <p:cNvPr id="4" name="TextBox 3"/>
          <p:cNvSpPr txBox="1"/>
          <p:nvPr/>
        </p:nvSpPr>
        <p:spPr>
          <a:xfrm>
            <a:off x="822960" y="1554480"/>
            <a:ext cx="3108960" cy="457200"/>
          </a:xfrm>
          <a:prstGeom prst="rect">
            <a:avLst/>
          </a:prstGeom>
          <a:noFill/>
        </p:spPr>
        <p:txBody>
          <a:bodyPr wrap="square" lIns="137160" rIns="137160" anchor="ctr">
            <a:spAutoFit/>
          </a:bodyPr>
          <a:lstStyle/>
          <a:p>
            <a:pPr algn="l">
              <a:spcAft>
                <a:spcPts val="700"/>
              </a:spcAft>
            </a:pPr>
            <a:r>
              <a:rPr sz="2200" b="1">
                <a:solidFill>
                  <a:srgbClr val="1A606A"/>
                </a:solidFill>
                <a:latin typeface="Aptos"/>
              </a:rPr>
              <a:t>CAUSE</a:t>
            </a:r>
          </a:p>
        </p:txBody>
      </p:sp>
      <p:sp>
        <p:nvSpPr>
          <p:cNvPr id="5" name="TextBox 4"/>
          <p:cNvSpPr txBox="1"/>
          <p:nvPr/>
        </p:nvSpPr>
        <p:spPr>
          <a:xfrm>
            <a:off x="822960" y="2103120"/>
            <a:ext cx="3108960" cy="2560320"/>
          </a:xfrm>
          <a:prstGeom prst="rect">
            <a:avLst/>
          </a:prstGeom>
          <a:solidFill>
            <a:srgbClr val="EAEFE9"/>
          </a:solidFill>
          <a:ln>
            <a:noFill/>
          </a:ln>
        </p:spPr>
        <p:txBody>
          <a:bodyPr wrap="square" lIns="137160" rIns="137160" anchor="ctr">
            <a:spAutoFit/>
          </a:bodyPr>
          <a:lstStyle/>
          <a:p>
            <a:pPr algn="l">
              <a:spcAft>
                <a:spcPts val="700"/>
              </a:spcAft>
            </a:pPr>
            <a:r>
              <a:rPr sz="2200" b="0">
                <a:solidFill>
                  <a:srgbClr val="1F2E34"/>
                </a:solidFill>
                <a:latin typeface="Aptos"/>
              </a:rPr>
              <a:t>Les plaques tectoniques bougent : leurs mouvements peuvent provoquer des séismes.</a:t>
            </a:r>
          </a:p>
        </p:txBody>
      </p:sp>
      <p:sp>
        <p:nvSpPr>
          <p:cNvPr id="6" name="TextBox 5"/>
          <p:cNvSpPr txBox="1"/>
          <p:nvPr/>
        </p:nvSpPr>
        <p:spPr>
          <a:xfrm>
            <a:off x="4526280" y="1554480"/>
            <a:ext cx="3108960" cy="457200"/>
          </a:xfrm>
          <a:prstGeom prst="rect">
            <a:avLst/>
          </a:prstGeom>
          <a:noFill/>
        </p:spPr>
        <p:txBody>
          <a:bodyPr wrap="square" lIns="137160" rIns="137160" anchor="ctr">
            <a:spAutoFit/>
          </a:bodyPr>
          <a:lstStyle/>
          <a:p>
            <a:pPr algn="l">
              <a:spcAft>
                <a:spcPts val="700"/>
              </a:spcAft>
            </a:pPr>
            <a:r>
              <a:rPr sz="2200" b="1">
                <a:solidFill>
                  <a:srgbClr val="1A606A"/>
                </a:solidFill>
                <a:latin typeface="Aptos"/>
              </a:rPr>
              <a:t>SE PROTÉGER</a:t>
            </a:r>
          </a:p>
        </p:txBody>
      </p:sp>
      <p:sp>
        <p:nvSpPr>
          <p:cNvPr id="7" name="TextBox 6"/>
          <p:cNvSpPr txBox="1"/>
          <p:nvPr/>
        </p:nvSpPr>
        <p:spPr>
          <a:xfrm>
            <a:off x="4526280" y="2103120"/>
            <a:ext cx="3108960" cy="2560320"/>
          </a:xfrm>
          <a:prstGeom prst="rect">
            <a:avLst/>
          </a:prstGeom>
          <a:solidFill>
            <a:srgbClr val="EAEFE9"/>
          </a:solidFill>
          <a:ln>
            <a:noFill/>
          </a:ln>
        </p:spPr>
        <p:txBody>
          <a:bodyPr wrap="square" lIns="137160" rIns="137160" anchor="ctr">
            <a:spAutoFit/>
          </a:bodyPr>
          <a:lstStyle/>
          <a:p>
            <a:pPr algn="l">
              <a:spcAft>
                <a:spcPts val="700"/>
              </a:spcAft>
            </a:pPr>
            <a:r>
              <a:rPr sz="2200" b="0">
                <a:solidFill>
                  <a:srgbClr val="1F2E34"/>
                </a:solidFill>
                <a:latin typeface="Aptos"/>
              </a:rPr>
              <a:t>S’abriter, protéger sa tête et suivre les consignes de sécurité.</a:t>
            </a:r>
          </a:p>
        </p:txBody>
      </p:sp>
      <p:sp>
        <p:nvSpPr>
          <p:cNvPr id="8" name="TextBox 7"/>
          <p:cNvSpPr txBox="1"/>
          <p:nvPr/>
        </p:nvSpPr>
        <p:spPr>
          <a:xfrm>
            <a:off x="8229600" y="1554480"/>
            <a:ext cx="3108960" cy="457200"/>
          </a:xfrm>
          <a:prstGeom prst="rect">
            <a:avLst/>
          </a:prstGeom>
          <a:noFill/>
        </p:spPr>
        <p:txBody>
          <a:bodyPr wrap="square" lIns="137160" rIns="137160" anchor="ctr">
            <a:spAutoFit/>
          </a:bodyPr>
          <a:lstStyle/>
          <a:p>
            <a:pPr algn="l">
              <a:spcAft>
                <a:spcPts val="700"/>
              </a:spcAft>
            </a:pPr>
            <a:r>
              <a:rPr sz="2200" b="1">
                <a:solidFill>
                  <a:srgbClr val="1A606A"/>
                </a:solidFill>
                <a:latin typeface="Aptos"/>
              </a:rPr>
              <a:t>SE PRÉPARER</a:t>
            </a:r>
          </a:p>
        </p:txBody>
      </p:sp>
      <p:sp>
        <p:nvSpPr>
          <p:cNvPr id="9" name="TextBox 8"/>
          <p:cNvSpPr txBox="1"/>
          <p:nvPr/>
        </p:nvSpPr>
        <p:spPr>
          <a:xfrm>
            <a:off x="8229600" y="2103120"/>
            <a:ext cx="3108960" cy="2560320"/>
          </a:xfrm>
          <a:prstGeom prst="rect">
            <a:avLst/>
          </a:prstGeom>
          <a:solidFill>
            <a:srgbClr val="EAEFE9"/>
          </a:solidFill>
          <a:ln>
            <a:noFill/>
          </a:ln>
        </p:spPr>
        <p:txBody>
          <a:bodyPr wrap="square" lIns="137160" rIns="137160" anchor="ctr">
            <a:spAutoFit/>
          </a:bodyPr>
          <a:lstStyle/>
          <a:p>
            <a:pPr algn="l">
              <a:spcAft>
                <a:spcPts val="700"/>
              </a:spcAft>
            </a:pPr>
            <a:r>
              <a:rPr sz="2200" b="0">
                <a:solidFill>
                  <a:srgbClr val="1F2E34"/>
                </a:solidFill>
                <a:latin typeface="Aptos"/>
              </a:rPr>
              <a:t>Faire des exercices et construire des bâtiments adaptés.</a:t>
            </a:r>
          </a:p>
        </p:txBody>
      </p:sp>
      <p:sp>
        <p:nvSpPr>
          <p:cNvPr id="10" name="TextBox 9"/>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JEUDI 24 SEPTEMBRE 2026</a:t>
            </a:r>
          </a:p>
        </p:txBody>
      </p:sp>
      <p:sp>
        <p:nvSpPr>
          <p:cNvPr id="13" name="TextBox 12"/>
          <p:cNvSpPr txBox="1"/>
          <p:nvPr/>
        </p:nvSpPr>
        <p:spPr>
          <a:xfrm>
            <a:off x="10351008" y="4910328"/>
            <a:ext cx="548640" cy="411480"/>
          </a:xfrm>
          <a:prstGeom prst="rect">
            <a:avLst/>
          </a:prstGeom>
          <a:noFill/>
        </p:spPr>
        <p:txBody>
          <a:bodyPr wrap="square" anchor="ctr">
            <a:spAutoFit/>
          </a:bodyPr>
          <a:lstStyle/>
          <a:p>
            <a:pPr algn="ctr"/>
            <a:r>
              <a:rPr sz="2400" b="1">
                <a:solidFill>
                  <a:srgbClr val="222F37"/>
                </a:solidFill>
                <a:latin typeface="Aptos"/>
              </a:rPr>
              <a:t>→</a:t>
            </a:r>
          </a:p>
        </p:txBody>
      </p:sp>
      <p:sp>
        <p:nvSpPr>
          <p:cNvPr id="14" name="Rounded Rectangle 13"/>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Exercice de sécurité au Japon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TextBox 1"/>
          <p:cNvSpPr txBox="1"/>
          <p:nvPr/>
        </p:nvSpPr>
        <p:spPr>
          <a:xfrm>
            <a:off x="548640" y="182880"/>
            <a:ext cx="10972800" cy="365760"/>
          </a:xfrm>
          <a:prstGeom prst="rect">
            <a:avLst/>
          </a:prstGeom>
          <a:noFill/>
        </p:spPr>
        <p:txBody>
          <a:bodyPr wrap="square" lIns="137160" rIns="137160" anchor="ctr">
            <a:spAutoFit/>
          </a:bodyPr>
          <a:lstStyle/>
          <a:p>
            <a:pPr algn="l">
              <a:spcAft>
                <a:spcPts val="700"/>
              </a:spcAft>
            </a:pPr>
            <a:r>
              <a:rPr sz="1400" b="1">
                <a:solidFill>
                  <a:srgbClr val="1A606A"/>
                </a:solidFill>
                <a:latin typeface="Aptos"/>
              </a:rPr>
              <a:t>VENDREDI · PASSEPORT</a:t>
            </a:r>
          </a:p>
        </p:txBody>
      </p:sp>
      <p:sp>
        <p:nvSpPr>
          <p:cNvPr id="3" name="TextBox 2"/>
          <p:cNvSpPr txBox="1"/>
          <p:nvPr/>
        </p:nvSpPr>
        <p:spPr>
          <a:xfrm>
            <a:off x="594360" y="594360"/>
            <a:ext cx="10972800" cy="731520"/>
          </a:xfrm>
          <a:prstGeom prst="rect">
            <a:avLst/>
          </a:prstGeom>
          <a:noFill/>
        </p:spPr>
        <p:txBody>
          <a:bodyPr wrap="square" lIns="137160" rIns="137160" anchor="ctr">
            <a:spAutoFit/>
          </a:bodyPr>
          <a:lstStyle/>
          <a:p>
            <a:pPr algn="l">
              <a:spcAft>
                <a:spcPts val="700"/>
              </a:spcAft>
            </a:pPr>
            <a:r>
              <a:rPr sz="3000" b="1">
                <a:solidFill>
                  <a:srgbClr val="1F2E34"/>
                </a:solidFill>
                <a:latin typeface="Aptos"/>
              </a:rPr>
              <a:t>Semaine 3 · Japon</a:t>
            </a:r>
          </a:p>
        </p:txBody>
      </p:sp>
      <p:sp>
        <p:nvSpPr>
          <p:cNvPr id="4" name="TextBox 3"/>
          <p:cNvSpPr txBox="1"/>
          <p:nvPr/>
        </p:nvSpPr>
        <p:spPr>
          <a:xfrm>
            <a:off x="731520" y="1554480"/>
            <a:ext cx="10789920" cy="54864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Destination : _______________________       Continent : _______________________</a:t>
            </a:r>
          </a:p>
        </p:txBody>
      </p:sp>
      <p:sp>
        <p:nvSpPr>
          <p:cNvPr id="5" name="TextBox 4"/>
          <p:cNvSpPr txBox="1"/>
          <p:nvPr/>
        </p:nvSpPr>
        <p:spPr>
          <a:xfrm>
            <a:off x="731520" y="2331720"/>
            <a:ext cx="10789920" cy="82296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 Je sais maintenant situer…</a:t>
            </a:r>
          </a:p>
          <a:p>
            <a:pPr algn="l">
              <a:spcAft>
                <a:spcPts val="700"/>
              </a:spcAft>
            </a:pPr>
            <a:r>
              <a:rPr sz="2100" b="0">
                <a:solidFill>
                  <a:srgbClr val="1F2E34"/>
                </a:solidFill>
                <a:latin typeface="Aptos"/>
              </a:rPr>
              <a:t>________________________________________________________</a:t>
            </a:r>
          </a:p>
        </p:txBody>
      </p:sp>
      <p:sp>
        <p:nvSpPr>
          <p:cNvPr id="6" name="TextBox 5"/>
          <p:cNvSpPr txBox="1"/>
          <p:nvPr/>
        </p:nvSpPr>
        <p:spPr>
          <a:xfrm>
            <a:off x="731520" y="3337560"/>
            <a:ext cx="10789920" cy="82296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 J’ai découvert que…</a:t>
            </a:r>
          </a:p>
          <a:p>
            <a:pPr algn="l">
              <a:spcAft>
                <a:spcPts val="700"/>
              </a:spcAft>
            </a:pPr>
            <a:r>
              <a:rPr sz="2100" b="0">
                <a:solidFill>
                  <a:srgbClr val="1F2E34"/>
                </a:solidFill>
                <a:latin typeface="Aptos"/>
              </a:rPr>
              <a:t>________________________________________________________</a:t>
            </a:r>
          </a:p>
        </p:txBody>
      </p:sp>
      <p:sp>
        <p:nvSpPr>
          <p:cNvPr id="7" name="TextBox 6"/>
          <p:cNvSpPr txBox="1"/>
          <p:nvPr/>
        </p:nvSpPr>
        <p:spPr>
          <a:xfrm>
            <a:off x="731520" y="4343400"/>
            <a:ext cx="10789920" cy="82296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 Ce qui m’a le plus surpris…</a:t>
            </a:r>
          </a:p>
          <a:p>
            <a:pPr algn="l">
              <a:spcAft>
                <a:spcPts val="700"/>
              </a:spcAft>
            </a:pPr>
            <a:r>
              <a:rPr sz="2100" b="0">
                <a:solidFill>
                  <a:srgbClr val="1F2E34"/>
                </a:solidFill>
                <a:latin typeface="Aptos"/>
              </a:rPr>
              <a:t>________________________________________________________</a:t>
            </a:r>
          </a:p>
        </p:txBody>
      </p:sp>
      <p:sp>
        <p:nvSpPr>
          <p:cNvPr id="8" name="TextBox 7"/>
          <p:cNvSpPr txBox="1"/>
          <p:nvPr/>
        </p:nvSpPr>
        <p:spPr>
          <a:xfrm>
            <a:off x="731520" y="5349240"/>
            <a:ext cx="10789920" cy="822960"/>
          </a:xfrm>
          <a:prstGeom prst="rect">
            <a:avLst/>
          </a:prstGeom>
          <a:noFill/>
        </p:spPr>
        <p:txBody>
          <a:bodyPr wrap="square" lIns="137160" rIns="137160" anchor="ctr">
            <a:spAutoFit/>
          </a:bodyPr>
          <a:lstStyle/>
          <a:p>
            <a:pPr algn="l">
              <a:spcAft>
                <a:spcPts val="700"/>
              </a:spcAft>
            </a:pPr>
            <a:r>
              <a:rPr sz="2100" b="0">
                <a:solidFill>
                  <a:srgbClr val="1F2E34"/>
                </a:solidFill>
                <a:latin typeface="Aptos"/>
              </a:rPr>
              <a:t>❓ Je me demande encore…</a:t>
            </a:r>
          </a:p>
          <a:p>
            <a:pPr algn="l">
              <a:spcAft>
                <a:spcPts val="700"/>
              </a:spcAft>
            </a:pPr>
            <a:r>
              <a:rPr sz="2100" b="0">
                <a:solidFill>
                  <a:srgbClr val="1F2E34"/>
                </a:solidFill>
                <a:latin typeface="Aptos"/>
              </a:rPr>
              <a:t>________________________________________________________</a:t>
            </a:r>
          </a:p>
        </p:txBody>
      </p:sp>
      <p:sp>
        <p:nvSpPr>
          <p:cNvPr id="9" name="TextBox 8"/>
          <p:cNvSpPr txBox="1"/>
          <p:nvPr/>
        </p:nvSpPr>
        <p:spPr>
          <a:xfrm>
            <a:off x="9128455" y="109728"/>
            <a:ext cx="2743200" cy="310896"/>
          </a:xfrm>
          <a:prstGeom prst="rect">
            <a:avLst/>
          </a:prstGeom>
          <a:noFill/>
        </p:spPr>
        <p:txBody>
          <a:bodyPr wrap="square" anchor="ctr">
            <a:spAutoFit/>
          </a:bodyPr>
          <a:lstStyle/>
          <a:p>
            <a:pPr algn="r"/>
            <a:r>
              <a:rPr sz="1200" b="1">
                <a:solidFill>
                  <a:srgbClr val="346B89"/>
                </a:solidFill>
                <a:latin typeface="Aptos"/>
              </a:rPr>
              <a:t>VENDREDI 25 SEPTEMBRE 2026</a:t>
            </a:r>
          </a:p>
        </p:txBody>
      </p:sp>
      <p:sp>
        <p:nvSpPr>
          <p:cNvPr id="10" name="Rounded Rectangle 9"/>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Drapeau japonais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01168"/>
            <a:ext cx="11002975" cy="347472"/>
          </a:xfrm>
          <a:prstGeom prst="rect">
            <a:avLst/>
          </a:prstGeom>
          <a:noFill/>
        </p:spPr>
        <p:txBody>
          <a:bodyPr wrap="square" anchor="ctr">
            <a:spAutoFit/>
          </a:bodyPr>
          <a:lstStyle/>
          <a:p>
            <a:pPr algn="l"/>
            <a:r>
              <a:rPr sz="1600" b="1">
                <a:solidFill>
                  <a:srgbClr val="346B89"/>
                </a:solidFill>
                <a:latin typeface="Aptos"/>
              </a:rPr>
              <a:t>VENDREDI 25 SEPTEMBRE 2026</a:t>
            </a:r>
          </a:p>
        </p:txBody>
      </p:sp>
      <p:sp>
        <p:nvSpPr>
          <p:cNvPr id="4" name="TextBox 3"/>
          <p:cNvSpPr txBox="1"/>
          <p:nvPr/>
        </p:nvSpPr>
        <p:spPr>
          <a:xfrm>
            <a:off x="640080" y="713232"/>
            <a:ext cx="10911535" cy="685800"/>
          </a:xfrm>
          <a:prstGeom prst="rect">
            <a:avLst/>
          </a:prstGeom>
          <a:noFill/>
        </p:spPr>
        <p:txBody>
          <a:bodyPr wrap="square" anchor="ctr">
            <a:spAutoFit/>
          </a:bodyPr>
          <a:lstStyle/>
          <a:p>
            <a:pPr algn="l"/>
            <a:r>
              <a:rPr sz="3000" b="1">
                <a:solidFill>
                  <a:srgbClr val="222F37"/>
                </a:solidFill>
                <a:latin typeface="Aptos"/>
              </a:rPr>
              <a:t>Passeport · Destination : le Japon</a:t>
            </a:r>
          </a:p>
        </p:txBody>
      </p:sp>
      <p:sp>
        <p:nvSpPr>
          <p:cNvPr id="5" name="TextBox 4"/>
          <p:cNvSpPr txBox="1"/>
          <p:nvPr/>
        </p:nvSpPr>
        <p:spPr>
          <a:xfrm>
            <a:off x="731520" y="1554480"/>
            <a:ext cx="10728655" cy="731520"/>
          </a:xfrm>
          <a:prstGeom prst="rect">
            <a:avLst/>
          </a:prstGeom>
          <a:noFill/>
        </p:spPr>
        <p:txBody>
          <a:bodyPr wrap="square" anchor="ctr">
            <a:spAutoFit/>
          </a:bodyPr>
          <a:lstStyle/>
          <a:p>
            <a:pPr algn="l"/>
            <a:r>
              <a:rPr sz="2000" b="1">
                <a:solidFill>
                  <a:srgbClr val="346B89"/>
                </a:solidFill>
                <a:latin typeface="Aptos"/>
              </a:rPr>
              <a:t>Dans le cahier du jour : saute une ligne, écris la date et le titre « Passeport du Japon ».</a:t>
            </a:r>
          </a:p>
        </p:txBody>
      </p:sp>
      <p:sp>
        <p:nvSpPr>
          <p:cNvPr id="6" name="TextBox 5"/>
          <p:cNvSpPr txBox="1"/>
          <p:nvPr/>
        </p:nvSpPr>
        <p:spPr>
          <a:xfrm>
            <a:off x="822960" y="2286000"/>
            <a:ext cx="10545775" cy="3611880"/>
          </a:xfrm>
          <a:prstGeom prst="rect">
            <a:avLst/>
          </a:prstGeom>
          <a:noFill/>
        </p:spPr>
        <p:txBody>
          <a:bodyPr wrap="square" anchor="ctr">
            <a:spAutoFit/>
          </a:bodyPr>
          <a:lstStyle/>
          <a:p>
            <a:pPr algn="l"/>
            <a:r>
              <a:rPr sz="2200" b="0">
                <a:solidFill>
                  <a:srgbClr val="222F37"/>
                </a:solidFill>
                <a:latin typeface="Aptos"/>
              </a:rPr>
              <a:t>Destination : le Japon                         Continent : Asie</a:t>
            </a:r>
          </a:p>
          <a:p>
            <a:pPr algn="l"/>
            <a:endParaRPr sz="2200" b="0">
              <a:solidFill>
                <a:srgbClr val="222F37"/>
              </a:solidFill>
              <a:latin typeface="Aptos"/>
            </a:endParaRPr>
          </a:p>
          <a:p>
            <a:pPr algn="l"/>
            <a:r>
              <a:rPr sz="2200" b="0">
                <a:solidFill>
                  <a:srgbClr val="222F37"/>
                </a:solidFill>
                <a:latin typeface="Aptos"/>
              </a:rPr>
              <a:t>📍 Je sais maintenant situer…</a:t>
            </a:r>
          </a:p>
          <a:p>
            <a:pPr algn="l"/>
            <a:endParaRPr sz="2200" b="0">
              <a:solidFill>
                <a:srgbClr val="222F37"/>
              </a:solidFill>
              <a:latin typeface="Aptos"/>
            </a:endParaRPr>
          </a:p>
          <a:p>
            <a:pPr algn="l"/>
            <a:r>
              <a:rPr sz="2200" b="0">
                <a:solidFill>
                  <a:srgbClr val="222F37"/>
                </a:solidFill>
                <a:latin typeface="Aptos"/>
              </a:rPr>
              <a:t>💡 J’ai découvert que…</a:t>
            </a:r>
          </a:p>
          <a:p>
            <a:pPr algn="l"/>
            <a:endParaRPr sz="2200" b="0">
              <a:solidFill>
                <a:srgbClr val="222F37"/>
              </a:solidFill>
              <a:latin typeface="Aptos"/>
            </a:endParaRPr>
          </a:p>
          <a:p>
            <a:pPr algn="l"/>
            <a:r>
              <a:rPr sz="2200" b="0">
                <a:solidFill>
                  <a:srgbClr val="222F37"/>
                </a:solidFill>
                <a:latin typeface="Aptos"/>
              </a:rPr>
              <a:t>😮 Ce qui m’a le plus surpris(e), c’est…</a:t>
            </a:r>
          </a:p>
          <a:p>
            <a:pPr algn="l"/>
            <a:endParaRPr sz="2200" b="0">
              <a:solidFill>
                <a:srgbClr val="222F37"/>
              </a:solidFill>
              <a:latin typeface="Aptos"/>
            </a:endParaRPr>
          </a:p>
          <a:p>
            <a:pPr algn="l"/>
            <a:r>
              <a:rPr sz="2200" b="0">
                <a:solidFill>
                  <a:srgbClr val="222F37"/>
                </a:solidFill>
                <a:latin typeface="Aptos"/>
              </a:rPr>
              <a:t>❓ Je me demande encore…</a:t>
            </a:r>
          </a:p>
        </p:txBody>
      </p:sp>
      <p:sp>
        <p:nvSpPr>
          <p:cNvPr id="7" name="Rounded Rectangle 6"/>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Paysage japonais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8F6E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7F5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94360" y="201168"/>
            <a:ext cx="11002975" cy="347472"/>
          </a:xfrm>
          <a:prstGeom prst="rect">
            <a:avLst/>
          </a:prstGeom>
          <a:noFill/>
        </p:spPr>
        <p:txBody>
          <a:bodyPr wrap="square" anchor="ctr">
            <a:spAutoFit/>
          </a:bodyPr>
          <a:lstStyle/>
          <a:p>
            <a:pPr algn="l"/>
            <a:r>
              <a:rPr sz="1600" b="1">
                <a:solidFill>
                  <a:srgbClr val="346B89"/>
                </a:solidFill>
                <a:latin typeface="Aptos"/>
              </a:rPr>
              <a:t>VENDREDI 25 SEPTEMBRE 2026</a:t>
            </a:r>
          </a:p>
        </p:txBody>
      </p:sp>
      <p:sp>
        <p:nvSpPr>
          <p:cNvPr id="4" name="TextBox 3"/>
          <p:cNvSpPr txBox="1"/>
          <p:nvPr/>
        </p:nvSpPr>
        <p:spPr>
          <a:xfrm>
            <a:off x="640080" y="713232"/>
            <a:ext cx="10911535" cy="685800"/>
          </a:xfrm>
          <a:prstGeom prst="rect">
            <a:avLst/>
          </a:prstGeom>
          <a:noFill/>
        </p:spPr>
        <p:txBody>
          <a:bodyPr wrap="square" anchor="ctr">
            <a:spAutoFit/>
          </a:bodyPr>
          <a:lstStyle/>
          <a:p>
            <a:pPr algn="l"/>
            <a:r>
              <a:rPr sz="3000" b="1">
                <a:solidFill>
                  <a:srgbClr val="222F37"/>
                </a:solidFill>
                <a:latin typeface="Aptos"/>
              </a:rPr>
              <a:t>Ma production d’écrit · Le Japon</a:t>
            </a:r>
          </a:p>
        </p:txBody>
      </p:sp>
      <p:sp>
        <p:nvSpPr>
          <p:cNvPr id="5" name="TextBox 4"/>
          <p:cNvSpPr txBox="1"/>
          <p:nvPr/>
        </p:nvSpPr>
        <p:spPr>
          <a:xfrm>
            <a:off x="822960" y="1600200"/>
            <a:ext cx="10545775" cy="914400"/>
          </a:xfrm>
          <a:prstGeom prst="rect">
            <a:avLst/>
          </a:prstGeom>
          <a:noFill/>
        </p:spPr>
        <p:txBody>
          <a:bodyPr wrap="square" anchor="ctr">
            <a:spAutoFit/>
          </a:bodyPr>
          <a:lstStyle/>
          <a:p>
            <a:pPr algn="l"/>
            <a:r>
              <a:rPr sz="2400" b="1">
                <a:solidFill>
                  <a:srgbClr val="222F37"/>
                </a:solidFill>
                <a:latin typeface="Aptos"/>
              </a:rPr>
              <a:t>Dans ton cahier du jour, rédige 3 à 4 phrases pour présenter le Japon à quelqu’un qui ne le connaît pas.</a:t>
            </a:r>
          </a:p>
        </p:txBody>
      </p:sp>
      <p:sp>
        <p:nvSpPr>
          <p:cNvPr id="6" name="TextBox 5"/>
          <p:cNvSpPr txBox="1"/>
          <p:nvPr/>
        </p:nvSpPr>
        <p:spPr>
          <a:xfrm>
            <a:off x="868680" y="2651760"/>
            <a:ext cx="10454335" cy="3246120"/>
          </a:xfrm>
          <a:prstGeom prst="rect">
            <a:avLst/>
          </a:prstGeom>
          <a:noFill/>
        </p:spPr>
        <p:txBody>
          <a:bodyPr wrap="square" anchor="ctr">
            <a:spAutoFit/>
          </a:bodyPr>
          <a:lstStyle/>
          <a:p>
            <a:pPr algn="l"/>
            <a:r>
              <a:rPr sz="2200" b="0">
                <a:solidFill>
                  <a:srgbClr val="222F37"/>
                </a:solidFill>
                <a:latin typeface="Aptos"/>
              </a:rPr>
              <a:t>Tu peux utiliser ces débuts de phrases :</a:t>
            </a:r>
          </a:p>
          <a:p>
            <a:pPr algn="l"/>
            <a:endParaRPr sz="2200" b="0">
              <a:solidFill>
                <a:srgbClr val="222F37"/>
              </a:solidFill>
              <a:latin typeface="Aptos"/>
            </a:endParaRPr>
          </a:p>
          <a:p>
            <a:pPr algn="l"/>
            <a:r>
              <a:rPr sz="2200" b="0">
                <a:solidFill>
                  <a:srgbClr val="222F37"/>
                </a:solidFill>
                <a:latin typeface="Aptos"/>
              </a:rPr>
              <a:t>« Le Japon est situé… »</a:t>
            </a:r>
          </a:p>
          <a:p>
            <a:pPr algn="l"/>
            <a:r>
              <a:rPr sz="2200" b="0">
                <a:solidFill>
                  <a:srgbClr val="222F37"/>
                </a:solidFill>
                <a:latin typeface="Aptos"/>
              </a:rPr>
              <a:t>« Ce pays connaît de nombreux séismes parce que… »</a:t>
            </a:r>
          </a:p>
          <a:p>
            <a:pPr algn="l"/>
            <a:r>
              <a:rPr sz="2200" b="0">
                <a:solidFill>
                  <a:srgbClr val="222F37"/>
                </a:solidFill>
                <a:latin typeface="Aptos"/>
              </a:rPr>
              <a:t>« Pour s’y préparer, les habitants… »</a:t>
            </a:r>
          </a:p>
          <a:p>
            <a:pPr algn="l"/>
            <a:r>
              <a:rPr sz="2200" b="0">
                <a:solidFill>
                  <a:srgbClr val="222F37"/>
                </a:solidFill>
                <a:latin typeface="Aptos"/>
              </a:rPr>
              <a:t>« Cette semaine, j’ai été surpris(e) de découvrir que… »</a:t>
            </a:r>
          </a:p>
        </p:txBody>
      </p:sp>
      <p:sp>
        <p:nvSpPr>
          <p:cNvPr id="7" name="TextBox 6"/>
          <p:cNvSpPr txBox="1"/>
          <p:nvPr/>
        </p:nvSpPr>
        <p:spPr>
          <a:xfrm>
            <a:off x="822960" y="5989320"/>
            <a:ext cx="10545775" cy="320040"/>
          </a:xfrm>
          <a:prstGeom prst="rect">
            <a:avLst/>
          </a:prstGeom>
          <a:noFill/>
        </p:spPr>
        <p:txBody>
          <a:bodyPr wrap="square" anchor="ctr">
            <a:spAutoFit/>
          </a:bodyPr>
          <a:lstStyle/>
          <a:p>
            <a:pPr algn="l"/>
            <a:r>
              <a:rPr sz="1600" b="1">
                <a:solidFill>
                  <a:srgbClr val="B53B37"/>
                </a:solidFill>
                <a:latin typeface="Aptos"/>
              </a:rPr>
              <a:t>Relis-toi : majuscules, points, phrases complètes.</a:t>
            </a:r>
          </a:p>
        </p:txBody>
      </p:sp>
      <p:sp>
        <p:nvSpPr>
          <p:cNvPr id="8" name="Rounded Rectangle 7"/>
          <p:cNvSpPr/>
          <p:nvPr/>
        </p:nvSpPr>
        <p:spPr>
          <a:xfrm>
            <a:off x="9738360" y="5148072"/>
            <a:ext cx="1947672" cy="1170432"/>
          </a:xfrm>
          <a:prstGeom prst="roundRect">
            <a:avLst/>
          </a:prstGeom>
          <a:solidFill>
            <a:srgbClr val="E7EFEF"/>
          </a:solidFill>
          <a:ln w="15240">
            <a:solidFill>
              <a:srgbClr val="5D8C8F"/>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00" b="1">
                <a:solidFill>
                  <a:srgbClr val="2F5B5F"/>
                </a:solidFill>
                <a:latin typeface="Aptos"/>
              </a:rPr>
              <a:t>PHOTO À INSÉRER
Cerisiers en fleurs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457200"/>
            <a:ext cx="10698480" cy="5943600"/>
          </a:xfrm>
          <a:prstGeom prst="rect">
            <a:avLst/>
          </a:prstGeom>
          <a:noFill/>
        </p:spPr>
        <p:txBody>
          <a:bodyPr wrap="square">
            <a:spAutoFit/>
          </a:bodyPr>
          <a:lstStyle/>
          <a:p>
            <a:pPr>
              <a:spcAft>
                <a:spcPts val="1500"/>
              </a:spcAft>
            </a:pPr>
            <a:r>
              <a:rPr sz="2300" b="1">
                <a:solidFill>
                  <a:srgbClr val="243741"/>
                </a:solidFill>
                <a:latin typeface="Aptos"/>
              </a:rPr>
              <a:t>S3 · GUIDE DES PHOTOS À INSÉRER (ENSEIGNANT)</a:t>
            </a:r>
          </a:p>
          <a:p>
            <a:pPr>
              <a:spcAft>
                <a:spcPts val="1500"/>
              </a:spcAft>
            </a:pPr>
            <a:r>
              <a:rPr sz="1800" b="0">
                <a:solidFill>
                  <a:srgbClr val="243741"/>
                </a:solidFill>
                <a:latin typeface="Aptos"/>
              </a:rPr>
              <a:t>Les cadres bleutés indiquent les emplacements à remplacer par de vraies photographies.</a:t>
            </a:r>
          </a:p>
          <a:p>
            <a:pPr>
              <a:spcAft>
                <a:spcPts val="1500"/>
              </a:spcAft>
            </a:pPr>
            <a:r>
              <a:rPr sz="1800" b="0">
                <a:solidFill>
                  <a:srgbClr val="243741"/>
                </a:solidFill>
                <a:latin typeface="Aptos"/>
              </a:rPr>
              <a:t>Lundi : carte du Japon, mont Fuji, enseignes en japonais, sakura, mangas.</a:t>
            </a:r>
          </a:p>
          <a:p>
            <a:pPr>
              <a:spcAft>
                <a:spcPts val="1500"/>
              </a:spcAft>
            </a:pPr>
            <a:r>
              <a:rPr sz="1800" b="0">
                <a:solidFill>
                  <a:srgbClr val="243741"/>
                </a:solidFill>
                <a:latin typeface="Aptos"/>
              </a:rPr>
              <a:t>Mardi : alerte sismique, Shibuya, lapins d’Ōkunoshima, train maglev, onsen.</a:t>
            </a:r>
          </a:p>
          <a:p>
            <a:pPr>
              <a:spcAft>
                <a:spcPts val="1500"/>
              </a:spcAft>
            </a:pPr>
            <a:r>
              <a:rPr sz="1800" b="0">
                <a:solidFill>
                  <a:srgbClr val="243741"/>
                </a:solidFill>
                <a:latin typeface="Aptos"/>
              </a:rPr>
              <a:t>Jeudi : carte des plaques, schéma d’une faille, photo d’un exercice de protection.</a:t>
            </a:r>
          </a:p>
          <a:p>
            <a:pPr>
              <a:spcAft>
                <a:spcPts val="1500"/>
              </a:spcAft>
            </a:pPr>
            <a:r>
              <a:rPr sz="1800" b="0">
                <a:solidFill>
                  <a:srgbClr val="243741"/>
                </a:solidFill>
                <a:latin typeface="Aptos"/>
              </a:rPr>
              <a:t>Vendredi : paysage japonais ou cerisiers en fleurs.</a:t>
            </a:r>
          </a:p>
          <a:p>
            <a:pPr>
              <a:spcAft>
                <a:spcPts val="1500"/>
              </a:spcAft>
            </a:pPr>
            <a:r>
              <a:rPr sz="1800" b="0">
                <a:solidFill>
                  <a:srgbClr val="243741"/>
                </a:solidFill>
                <a:latin typeface="Aptos"/>
              </a:rPr>
              <a:t>Dans PowerPoint : clic droit sur un cadre → remplacer par votre photo ; ajuster le cadrage.</a:t>
            </a:r>
          </a:p>
          <a:p>
            <a:pPr>
              <a:spcAft>
                <a:spcPts val="1500"/>
              </a:spcAft>
            </a:pPr>
            <a:r>
              <a:rPr sz="1800" b="0">
                <a:solidFill>
                  <a:srgbClr val="243741"/>
                </a:solidFill>
                <a:latin typeface="Aptos"/>
              </a:rPr>
              <a:t>Les cadres ne sont pas des photographies et n’ont pas vocation à être projetés tels quels.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2176</Words>
  <Application>Microsoft Office PowerPoint</Application>
  <PresentationFormat>Grand écran</PresentationFormat>
  <Paragraphs>266</Paragraphs>
  <Slides>37</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37</vt:i4>
      </vt:variant>
    </vt:vector>
  </HeadingPairs>
  <TitlesOfParts>
    <vt:vector size="41"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Zou_Mai ____</cp:lastModifiedBy>
  <cp:revision>2</cp:revision>
  <dcterms:created xsi:type="dcterms:W3CDTF">2013-01-27T09:14:16Z</dcterms:created>
  <dcterms:modified xsi:type="dcterms:W3CDTF">2026-09-20T07:24:17Z</dcterms:modified>
  <cp:category/>
</cp:coreProperties>
</file>